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307" r:id="rId5"/>
    <p:sldId id="262" r:id="rId6"/>
    <p:sldId id="275" r:id="rId7"/>
    <p:sldId id="315" r:id="rId8"/>
    <p:sldId id="312" r:id="rId9"/>
    <p:sldId id="311" r:id="rId10"/>
    <p:sldId id="316" r:id="rId11"/>
    <p:sldId id="264" r:id="rId12"/>
    <p:sldId id="303" r:id="rId13"/>
    <p:sldId id="319" r:id="rId14"/>
    <p:sldId id="306" r:id="rId15"/>
    <p:sldId id="304" r:id="rId16"/>
    <p:sldId id="305" r:id="rId17"/>
    <p:sldId id="285" r:id="rId18"/>
    <p:sldId id="284" r:id="rId19"/>
    <p:sldId id="286" r:id="rId20"/>
    <p:sldId id="290" r:id="rId21"/>
    <p:sldId id="321" r:id="rId22"/>
    <p:sldId id="291" r:id="rId23"/>
    <p:sldId id="266" r:id="rId24"/>
    <p:sldId id="317" r:id="rId25"/>
    <p:sldId id="260" r:id="rId26"/>
    <p:sldId id="320" r:id="rId27"/>
    <p:sldId id="322" r:id="rId28"/>
    <p:sldId id="318" r:id="rId29"/>
    <p:sldId id="292" r:id="rId30"/>
    <p:sldId id="293" r:id="rId31"/>
    <p:sldId id="294" r:id="rId32"/>
    <p:sldId id="295" r:id="rId33"/>
    <p:sldId id="296" r:id="rId34"/>
    <p:sldId id="298" r:id="rId35"/>
    <p:sldId id="299" r:id="rId36"/>
    <p:sldId id="300" r:id="rId37"/>
    <p:sldId id="302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3F459CEF-DE96-4AC3-A8D9-C388E5B1755E}">
          <p14:sldIdLst>
            <p14:sldId id="256"/>
            <p14:sldId id="257"/>
            <p14:sldId id="258"/>
            <p14:sldId id="307"/>
            <p14:sldId id="262"/>
            <p14:sldId id="275"/>
            <p14:sldId id="315"/>
            <p14:sldId id="312"/>
            <p14:sldId id="311"/>
            <p14:sldId id="316"/>
            <p14:sldId id="264"/>
            <p14:sldId id="303"/>
            <p14:sldId id="319"/>
            <p14:sldId id="306"/>
            <p14:sldId id="304"/>
            <p14:sldId id="305"/>
            <p14:sldId id="285"/>
            <p14:sldId id="284"/>
            <p14:sldId id="286"/>
            <p14:sldId id="290"/>
            <p14:sldId id="321"/>
            <p14:sldId id="291"/>
            <p14:sldId id="266"/>
            <p14:sldId id="317"/>
            <p14:sldId id="260"/>
            <p14:sldId id="320"/>
            <p14:sldId id="322"/>
            <p14:sldId id="318"/>
            <p14:sldId id="292"/>
            <p14:sldId id="293"/>
            <p14:sldId id="294"/>
            <p14:sldId id="295"/>
            <p14:sldId id="296"/>
            <p14:sldId id="298"/>
            <p14:sldId id="299"/>
            <p14:sldId id="300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5GdbxsaFl02bTEFBl/9s84/Z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6951E-822F-46EB-BCE4-742180395C9C}" v="126" dt="2026-07-09T16:34:55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customschemas.google.com/relationships/presentationmetadata" Target="meta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7120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92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58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793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947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0206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67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689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3145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2872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" name="Google Shape;15;p6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6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6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6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6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6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6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6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6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6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9" name="Google Shape;29;p7"/>
          <p:cNvGrpSpPr/>
          <p:nvPr/>
        </p:nvGrpSpPr>
        <p:grpSpPr>
          <a:xfrm>
            <a:off x="1107688" y="1500183"/>
            <a:ext cx="10145032" cy="3253087"/>
            <a:chOff x="899998" y="1500182"/>
            <a:chExt cx="5513503" cy="3253087"/>
          </a:xfrm>
        </p:grpSpPr>
        <p:sp>
          <p:nvSpPr>
            <p:cNvPr id="30" name="Google Shape;30;p7"/>
            <p:cNvSpPr/>
            <p:nvPr/>
          </p:nvSpPr>
          <p:spPr>
            <a:xfrm>
              <a:off x="899999" y="1513268"/>
              <a:ext cx="58695" cy="10800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1" name="Google Shape;31;p7"/>
            <p:cNvGrpSpPr/>
            <p:nvPr/>
          </p:nvGrpSpPr>
          <p:grpSpPr>
            <a:xfrm>
              <a:off x="899998" y="1500182"/>
              <a:ext cx="5513503" cy="3253087"/>
              <a:chOff x="899998" y="1500182"/>
              <a:chExt cx="5513503" cy="3253087"/>
            </a:xfrm>
          </p:grpSpPr>
          <p:grpSp>
            <p:nvGrpSpPr>
              <p:cNvPr id="32" name="Google Shape;32;p7"/>
              <p:cNvGrpSpPr/>
              <p:nvPr/>
            </p:nvGrpSpPr>
            <p:grpSpPr>
              <a:xfrm>
                <a:off x="899998" y="1500182"/>
                <a:ext cx="5513503" cy="3253087"/>
                <a:chOff x="899999" y="1500182"/>
                <a:chExt cx="3240002" cy="3253087"/>
              </a:xfrm>
            </p:grpSpPr>
            <p:sp>
              <p:nvSpPr>
                <p:cNvPr id="33" name="Google Shape;33;p7"/>
                <p:cNvSpPr/>
                <p:nvPr/>
              </p:nvSpPr>
              <p:spPr>
                <a:xfrm rot="-5400000">
                  <a:off x="1880752" y="519429"/>
                  <a:ext cx="108000" cy="2069506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4" name="Google Shape;34;p7"/>
                <p:cNvSpPr/>
                <p:nvPr/>
              </p:nvSpPr>
              <p:spPr>
                <a:xfrm rot="5400000">
                  <a:off x="3051247" y="3664515"/>
                  <a:ext cx="108000" cy="2069507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35" name="Google Shape;35;p7"/>
              <p:cNvSpPr/>
              <p:nvPr/>
            </p:nvSpPr>
            <p:spPr>
              <a:xfrm rot="10800000">
                <a:off x="6354805" y="3673267"/>
                <a:ext cx="58695" cy="108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40" name="Google Shape;40;p8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endParaRPr dirty="0"/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Blameless_2</a:t>
            </a:r>
            <a:r>
              <a:rPr lang="ko-KR" altLang="en-US" dirty="0"/>
              <a:t>조</a:t>
            </a:r>
            <a:endParaRPr dirty="0"/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dirty="0"/>
              <a:t>CRA</a:t>
            </a:r>
            <a:r>
              <a:rPr lang="ko-KR" altLang="en-US" dirty="0"/>
              <a:t>과정 팀프로젝트</a:t>
            </a:r>
            <a:endParaRPr dirty="0"/>
          </a:p>
        </p:txBody>
      </p:sp>
      <p:sp>
        <p:nvSpPr>
          <p:cNvPr id="49" name="Google Shape;49;p1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altLang="en-US" dirty="0"/>
              <a:t>조원 소개 및 역할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조원 소개 및 역할</a:t>
            </a:r>
            <a:endParaRPr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E43EA45-540F-4F00-8952-8126CDD0A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1514"/>
              </p:ext>
            </p:extLst>
          </p:nvPr>
        </p:nvGraphicFramePr>
        <p:xfrm>
          <a:off x="773150" y="2119472"/>
          <a:ext cx="10645699" cy="261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005">
                  <a:extLst>
                    <a:ext uri="{9D8B030D-6E8A-4147-A177-3AD203B41FA5}">
                      <a16:colId xmlns:a16="http://schemas.microsoft.com/office/drawing/2014/main" val="3997171214"/>
                    </a:ext>
                  </a:extLst>
                </a:gridCol>
                <a:gridCol w="860743">
                  <a:extLst>
                    <a:ext uri="{9D8B030D-6E8A-4147-A177-3AD203B41FA5}">
                      <a16:colId xmlns:a16="http://schemas.microsoft.com/office/drawing/2014/main" val="1196200532"/>
                    </a:ext>
                  </a:extLst>
                </a:gridCol>
                <a:gridCol w="4411980">
                  <a:extLst>
                    <a:ext uri="{9D8B030D-6E8A-4147-A177-3AD203B41FA5}">
                      <a16:colId xmlns:a16="http://schemas.microsoft.com/office/drawing/2014/main" val="319739361"/>
                    </a:ext>
                  </a:extLst>
                </a:gridCol>
                <a:gridCol w="3681971">
                  <a:extLst>
                    <a:ext uri="{9D8B030D-6E8A-4147-A177-3AD203B41FA5}">
                      <a16:colId xmlns:a16="http://schemas.microsoft.com/office/drawing/2014/main" val="1478803786"/>
                    </a:ext>
                  </a:extLst>
                </a:gridCol>
              </a:tblGrid>
              <a:tr h="433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</a:rPr>
                        <a:t>이름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DISC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557999"/>
                  </a:ext>
                </a:extLst>
              </a:tr>
              <a:tr h="4430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김상원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팀장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합리적인 것을 좋아함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과정을 중요시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Parser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개발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6240"/>
                  </a:ext>
                </a:extLst>
              </a:tr>
              <a:tr h="4430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전현지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D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불분명한 것 </a:t>
                      </a:r>
                      <a:r>
                        <a:rPr lang="en-US" altLang="ko-KR" sz="2000" dirty="0"/>
                        <a:t>X, </a:t>
                      </a:r>
                      <a:r>
                        <a:rPr lang="ko-KR" altLang="en-US" sz="2000" dirty="0"/>
                        <a:t>분명하게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Shell,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CodeFabFacade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개발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07318"/>
                  </a:ext>
                </a:extLst>
              </a:tr>
              <a:tr h="433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/>
                        <a:t>조유식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I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동기부여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목표 중요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유일한 </a:t>
                      </a:r>
                      <a:r>
                        <a:rPr lang="en-US" altLang="ko-KR" sz="2000" dirty="0"/>
                        <a:t>‘E’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Tokenizer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개발</a:t>
                      </a:r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kumimoji="0" lang="ko-KR" alt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클로드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아빠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003045"/>
                  </a:ext>
                </a:extLst>
              </a:tr>
              <a:tr h="433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엄준용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C, S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/>
                        <a:t>김부장</a:t>
                      </a:r>
                      <a:r>
                        <a:rPr lang="ko-KR" altLang="en-US" sz="2000" dirty="0"/>
                        <a:t> 애청자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주식은</a:t>
                      </a:r>
                      <a:r>
                        <a:rPr lang="en-US" altLang="ko-KR" sz="2000" dirty="0"/>
                        <a:t>... </a:t>
                      </a:r>
                      <a:r>
                        <a:rPr lang="ko-KR" altLang="en-US" sz="2000" dirty="0" err="1"/>
                        <a:t>ㅠㅠ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Checker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개발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628121"/>
                  </a:ext>
                </a:extLst>
              </a:tr>
              <a:tr h="433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/>
                        <a:t>이상무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AI </a:t>
                      </a:r>
                      <a:r>
                        <a:rPr lang="ko-KR" altLang="en-US" sz="2000" dirty="0"/>
                        <a:t>시대에 뒤쳐지기 않게</a:t>
                      </a:r>
                      <a:r>
                        <a:rPr lang="en-US" altLang="ko-KR" sz="2000" dirty="0"/>
                        <a:t>...!!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Executor</a:t>
                      </a:r>
                      <a:r>
                        <a:rPr kumimoji="0" lang="ko-KR" alt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개발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9261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C21A6-9CA3-4D3D-A452-78F64BD6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지원 범위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376C5A33-A660-4F20-AA73-C94189719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11572"/>
              </p:ext>
            </p:extLst>
          </p:nvPr>
        </p:nvGraphicFramePr>
        <p:xfrm>
          <a:off x="991650" y="2788629"/>
          <a:ext cx="5017864" cy="3047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371">
                  <a:extLst>
                    <a:ext uri="{9D8B030D-6E8A-4147-A177-3AD203B41FA5}">
                      <a16:colId xmlns:a16="http://schemas.microsoft.com/office/drawing/2014/main" val="1923413802"/>
                    </a:ext>
                  </a:extLst>
                </a:gridCol>
                <a:gridCol w="2846493">
                  <a:extLst>
                    <a:ext uri="{9D8B030D-6E8A-4147-A177-3AD203B41FA5}">
                      <a16:colId xmlns:a16="http://schemas.microsoft.com/office/drawing/2014/main" val="548772713"/>
                    </a:ext>
                  </a:extLst>
                </a:gridCol>
              </a:tblGrid>
              <a:tr h="198499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기본 기능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68425"/>
                  </a:ext>
                </a:extLst>
              </a:tr>
              <a:tr h="1984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지원 여부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79436"/>
                  </a:ext>
                </a:extLst>
              </a:tr>
              <a:tr h="342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변수 선언과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94543"/>
                  </a:ext>
                </a:extLst>
              </a:tr>
              <a:tr h="342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산술 연산과 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03029"/>
                  </a:ext>
                </a:extLst>
              </a:tr>
              <a:tr h="1984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비교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논리 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0183"/>
                  </a:ext>
                </a:extLst>
              </a:tr>
              <a:tr h="1984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조건 분기 실행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97191"/>
                  </a:ext>
                </a:extLst>
              </a:tr>
              <a:tr h="1984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반복 실행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63221"/>
                  </a:ext>
                </a:extLst>
              </a:tr>
              <a:tr h="342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블록 </a:t>
                      </a:r>
                      <a:r>
                        <a:rPr lang="ko-KR" altLang="en-US" sz="1600" dirty="0" err="1"/>
                        <a:t>스코프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7749"/>
                  </a:ext>
                </a:extLst>
              </a:tr>
              <a:tr h="342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Prompt Shell </a:t>
                      </a:r>
                      <a:r>
                        <a:rPr lang="ko-KR" altLang="en-US" sz="1600" dirty="0"/>
                        <a:t>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53940"/>
                  </a:ext>
                </a:extLst>
              </a:tr>
            </a:tbl>
          </a:graphicData>
        </a:graphic>
      </p:graphicFrame>
      <p:graphicFrame>
        <p:nvGraphicFramePr>
          <p:cNvPr id="8" name="표 6">
            <a:extLst>
              <a:ext uri="{FF2B5EF4-FFF2-40B4-BE49-F238E27FC236}">
                <a16:creationId xmlns:a16="http://schemas.microsoft.com/office/drawing/2014/main" id="{74CD4EEA-AA3D-49AF-B892-75CD822A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72855"/>
              </p:ext>
            </p:extLst>
          </p:nvPr>
        </p:nvGraphicFramePr>
        <p:xfrm>
          <a:off x="6450283" y="2014055"/>
          <a:ext cx="4918787" cy="382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923413802"/>
                    </a:ext>
                  </a:extLst>
                </a:gridCol>
                <a:gridCol w="2272107">
                  <a:extLst>
                    <a:ext uri="{9D8B030D-6E8A-4147-A177-3AD203B41FA5}">
                      <a16:colId xmlns:a16="http://schemas.microsoft.com/office/drawing/2014/main" val="837826381"/>
                    </a:ext>
                  </a:extLst>
                </a:gridCol>
              </a:tblGrid>
              <a:tr h="330199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추가 기능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68425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지원 여부</a:t>
                      </a:r>
                    </a:p>
                  </a:txBody>
                  <a:tcP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79436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함수 정의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호출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재귀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94543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클래스 선언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인스턴스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필드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03029"/>
                  </a:ext>
                </a:extLst>
              </a:tr>
              <a:tr h="4024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메서드</a:t>
                      </a:r>
                      <a:r>
                        <a:rPr lang="en-US" altLang="ko-KR" sz="1600" dirty="0"/>
                        <a:t>/this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0183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생성자</a:t>
                      </a:r>
                      <a:r>
                        <a:rPr lang="en-US" altLang="ko-KR" sz="1600" dirty="0"/>
                        <a:t>(</a:t>
                      </a:r>
                      <a:r>
                        <a:rPr lang="en-US" altLang="ko-KR" sz="1600" dirty="0" err="1"/>
                        <a:t>init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97191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상속</a:t>
                      </a:r>
                      <a:r>
                        <a:rPr lang="en-US" altLang="ko-KR" sz="1600" dirty="0"/>
                        <a:t>/Super/</a:t>
                      </a:r>
                      <a:r>
                        <a:rPr lang="en-US" altLang="ko-KR" sz="1600" dirty="0" err="1"/>
                        <a:t>instanceof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63221"/>
                  </a:ext>
                </a:extLst>
              </a:tr>
              <a:tr h="4024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정적 배열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7749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파일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53940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디버그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지원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940928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strike="sngStrike" dirty="0"/>
                        <a:t>최적화</a:t>
                      </a:r>
                      <a:r>
                        <a:rPr lang="en-US" altLang="ko-KR" sz="1600" strike="sngStrike" dirty="0"/>
                        <a:t>/import</a:t>
                      </a:r>
                      <a:endParaRPr lang="ko-KR" altLang="en-US" sz="16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strike="sngStrike" dirty="0"/>
                        <a:t>미지원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060625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21535456-E160-4B0A-8F85-42E8AC638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81" y="1339525"/>
            <a:ext cx="10515600" cy="492768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기본 기능 모두 지원</a:t>
            </a:r>
            <a:endParaRPr lang="en-US" altLang="ko-KR" sz="2000" dirty="0"/>
          </a:p>
          <a:p>
            <a:r>
              <a:rPr lang="ko-KR" altLang="en-US" sz="2000" dirty="0"/>
              <a:t>추가 기능은 최적화</a:t>
            </a:r>
            <a:r>
              <a:rPr lang="en-US" altLang="ko-KR" sz="2000" dirty="0"/>
              <a:t>/import </a:t>
            </a:r>
            <a:r>
              <a:rPr lang="ko-KR" altLang="en-US" sz="2000" dirty="0"/>
              <a:t>외 모두 지원</a:t>
            </a:r>
          </a:p>
        </p:txBody>
      </p:sp>
    </p:spTree>
    <p:extLst>
      <p:ext uri="{BB962C8B-B14F-4D97-AF65-F5344CB8AC3E}">
        <p14:creationId xmlns:p14="http://schemas.microsoft.com/office/powerpoint/2010/main" val="59409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altLang="en-US" dirty="0"/>
              <a:t>기능 구현 소개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802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FFC10-4E22-44A5-8C6A-C80C154E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시스템 아키텍처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754F56-1CAF-4D95-92FF-FD173570B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34" y="1201730"/>
            <a:ext cx="9396291" cy="54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8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29FAD-57FD-4E52-904D-A0FBE472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디자인 패턴</a:t>
            </a:r>
            <a:r>
              <a:rPr lang="en-US" altLang="ko-KR" dirty="0"/>
              <a:t> – Façade/Orchestrator Pattern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5837F-68BA-447A-9BD6-A134731F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Façade pattern</a:t>
            </a:r>
          </a:p>
          <a:p>
            <a:pPr lvl="1"/>
            <a:r>
              <a:rPr lang="en-US" altLang="ko-KR" sz="2000" dirty="0"/>
              <a:t>Shell</a:t>
            </a:r>
            <a:r>
              <a:rPr lang="ko-KR" altLang="en-US" sz="2000" dirty="0"/>
              <a:t>은 내부 구현 정보 없이 </a:t>
            </a:r>
            <a:r>
              <a:rPr lang="en-US" altLang="ko-KR" sz="2000" dirty="0"/>
              <a:t>execute() </a:t>
            </a:r>
            <a:r>
              <a:rPr lang="ko-KR" altLang="en-US" sz="2000" dirty="0"/>
              <a:t>메소드만 호출</a:t>
            </a:r>
            <a:endParaRPr lang="en-US" altLang="ko-KR" sz="2000" dirty="0"/>
          </a:p>
          <a:p>
            <a:pPr lvl="1"/>
            <a:r>
              <a:rPr lang="en-US" altLang="ko-KR" sz="2000" dirty="0"/>
              <a:t>execute()</a:t>
            </a:r>
            <a:r>
              <a:rPr lang="ko-KR" altLang="en-US" sz="2000" dirty="0"/>
              <a:t>가 변하지 않는 한 </a:t>
            </a:r>
            <a:r>
              <a:rPr lang="en-US" altLang="ko-KR" sz="2000" dirty="0"/>
              <a:t>Shell</a:t>
            </a:r>
            <a:r>
              <a:rPr lang="ko-KR" altLang="en-US" sz="2000" dirty="0"/>
              <a:t>은 영향 받지 않음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marL="571500" lvl="1" indent="0">
              <a:buNone/>
            </a:pPr>
            <a:endParaRPr lang="en-US" altLang="ko-KR" sz="2000" dirty="0"/>
          </a:p>
          <a:p>
            <a:pPr marL="571500" lvl="1" indent="0">
              <a:buNone/>
            </a:pPr>
            <a:endParaRPr lang="en-US" altLang="ko-KR" sz="2000" dirty="0"/>
          </a:p>
          <a:p>
            <a:r>
              <a:rPr lang="en-US" altLang="ko-KR" b="1" dirty="0"/>
              <a:t>Orchestrator pattern </a:t>
            </a:r>
          </a:p>
          <a:p>
            <a:pPr lvl="1"/>
            <a:r>
              <a:rPr lang="en-US" altLang="ko-KR" sz="2000" dirty="0" err="1"/>
              <a:t>CodeFabFacade</a:t>
            </a:r>
            <a:endParaRPr lang="en-US" altLang="ko-KR" sz="2000" dirty="0"/>
          </a:p>
          <a:p>
            <a:pPr lvl="2"/>
            <a:r>
              <a:rPr lang="ko-KR" altLang="en-US" sz="1800" dirty="0"/>
              <a:t>각 모듈의 실행 순서 및 입력을 제어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8D3FDE-4D7A-45F5-A960-11E8E0A36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152" y="2753802"/>
            <a:ext cx="5969453" cy="349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1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29FAD-57FD-4E52-904D-A0FBE472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디자인 패턴</a:t>
            </a:r>
            <a:r>
              <a:rPr lang="en-US" altLang="ko-KR" dirty="0"/>
              <a:t> – Strategy Pattern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5837F-68BA-447A-9BD6-A134731F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 입력 방식 지원을 위해 </a:t>
            </a:r>
            <a:r>
              <a:rPr lang="en-US" altLang="ko-KR" dirty="0" err="1"/>
              <a:t>IShellMode</a:t>
            </a:r>
            <a:r>
              <a:rPr lang="en-US" altLang="ko-KR" dirty="0"/>
              <a:t> </a:t>
            </a:r>
            <a:r>
              <a:rPr lang="ko-KR" altLang="en-US" dirty="0"/>
              <a:t>인터페이스를 상속받아 구현</a:t>
            </a:r>
            <a:endParaRPr lang="en-US" altLang="ko-KR" dirty="0"/>
          </a:p>
          <a:p>
            <a:r>
              <a:rPr lang="en-US" altLang="ko-KR" dirty="0"/>
              <a:t>main</a:t>
            </a:r>
            <a:r>
              <a:rPr lang="ko-KR" altLang="en-US" dirty="0"/>
              <a:t>에서는 입력 모드에</a:t>
            </a:r>
            <a:r>
              <a:rPr lang="en-US" altLang="ko-KR" dirty="0"/>
              <a:t> </a:t>
            </a:r>
            <a:r>
              <a:rPr lang="ko-KR" altLang="en-US" dirty="0"/>
              <a:t>맞는</a:t>
            </a:r>
            <a:br>
              <a:rPr lang="en-US" altLang="ko-KR" dirty="0"/>
            </a:br>
            <a:r>
              <a:rPr lang="ko-KR" altLang="en-US" dirty="0"/>
              <a:t>구체 클래스를 생성하여 사용 </a:t>
            </a:r>
            <a:endParaRPr lang="en-US" altLang="ko-KR" dirty="0"/>
          </a:p>
          <a:p>
            <a:r>
              <a:rPr lang="ko-KR" altLang="en-US" dirty="0"/>
              <a:t>실행 방식 구현을</a:t>
            </a:r>
            <a:br>
              <a:rPr lang="en-US" altLang="ko-KR" dirty="0"/>
            </a:br>
            <a:r>
              <a:rPr lang="ko-KR" altLang="en-US" dirty="0"/>
              <a:t>인터페이스 뒤로 숨길 수 있음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094D0C-BFBA-48BC-8388-2009C76E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805" y="2260954"/>
            <a:ext cx="5490020" cy="41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3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6CA21-88D1-4B84-AA9D-0C37A1422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디자인 패턴 </a:t>
            </a:r>
            <a:r>
              <a:rPr lang="en-US" altLang="ko-KR" dirty="0"/>
              <a:t>– Visitor pattern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307757-869D-4E09-BE25-06C6322B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79" y="1316376"/>
            <a:ext cx="11234921" cy="4927686"/>
          </a:xfrm>
        </p:spPr>
        <p:txBody>
          <a:bodyPr/>
          <a:lstStyle/>
          <a:p>
            <a:r>
              <a:rPr lang="ko-KR" altLang="en-US" dirty="0"/>
              <a:t>구조와 동작 방식을 서로 분리하여 노드의 수정없이 기능 추가 가능</a:t>
            </a:r>
          </a:p>
          <a:p>
            <a:r>
              <a:rPr lang="en-US" altLang="ko-KR" dirty="0"/>
              <a:t>accept</a:t>
            </a:r>
            <a:r>
              <a:rPr lang="ko-KR" altLang="en-US" dirty="0"/>
              <a:t>에서 올바른 </a:t>
            </a:r>
            <a:r>
              <a:rPr lang="en-US" altLang="ko-KR" dirty="0"/>
              <a:t>visitor </a:t>
            </a:r>
            <a:r>
              <a:rPr lang="ko-KR" altLang="en-US" dirty="0"/>
              <a:t>메소드를 호출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9FC1F1-8A9E-4500-A56F-7FC475AC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6" y="2777769"/>
            <a:ext cx="7134225" cy="32847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34A982-71A8-4946-A615-BF03188DE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38" y="2772437"/>
            <a:ext cx="4398883" cy="241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74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7F4A8-DF4F-41B2-8957-55E6CA65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SOLID </a:t>
            </a:r>
            <a:r>
              <a:rPr lang="ko-KR" altLang="en-US" dirty="0"/>
              <a:t>적용 사례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1F2DA7-6FB3-4E5C-932F-E1F1680AA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79" y="1316376"/>
            <a:ext cx="10880167" cy="492768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000" b="1" dirty="0"/>
              <a:t>단일 책임 원칙 </a:t>
            </a:r>
            <a:r>
              <a:rPr lang="en-US" altLang="ko-KR" sz="2000" b="1" dirty="0"/>
              <a:t>(SRP)</a:t>
            </a:r>
          </a:p>
          <a:p>
            <a:pPr lvl="1"/>
            <a:r>
              <a:rPr lang="ko-KR" altLang="en-US" sz="2000" dirty="0"/>
              <a:t>파이프라인의 각 클래스는 단 하나의 변경 이유를 갖는다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ko-KR" altLang="en-US" sz="2000" b="1" dirty="0"/>
              <a:t>개방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폐쇄 원칙 </a:t>
            </a:r>
            <a:r>
              <a:rPr lang="en-US" altLang="ko-KR" sz="2000" b="1" dirty="0"/>
              <a:t>(OCP)</a:t>
            </a:r>
          </a:p>
          <a:p>
            <a:pPr lvl="1"/>
            <a:r>
              <a:rPr lang="ko-KR" altLang="en-US" sz="2000" dirty="0"/>
              <a:t>새 실행 모드 추가 시 </a:t>
            </a:r>
            <a:r>
              <a:rPr lang="en-US" altLang="ko-KR" sz="2000" dirty="0" err="1"/>
              <a:t>IShellMode</a:t>
            </a:r>
            <a:r>
              <a:rPr lang="ko-KR" altLang="en-US" sz="2000" dirty="0"/>
              <a:t> 구현체만 추가하면 된다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ko-KR" altLang="en-US" sz="2000" b="1" dirty="0" err="1"/>
              <a:t>리스코프</a:t>
            </a:r>
            <a:r>
              <a:rPr lang="ko-KR" altLang="en-US" sz="2000" b="1" dirty="0"/>
              <a:t> 치환 원칙 </a:t>
            </a:r>
            <a:r>
              <a:rPr lang="en-US" altLang="ko-KR" sz="2000" b="1" dirty="0"/>
              <a:t>(LSP)</a:t>
            </a:r>
          </a:p>
          <a:p>
            <a:pPr lvl="1"/>
            <a:r>
              <a:rPr lang="en-US" altLang="ko-KR" sz="2000" dirty="0" err="1"/>
              <a:t>FileModeShell</a:t>
            </a:r>
            <a:r>
              <a:rPr lang="ko-KR" altLang="en-US" sz="2000" dirty="0"/>
              <a:t>과 </a:t>
            </a:r>
            <a:r>
              <a:rPr lang="en-US" altLang="ko-KR" sz="2000" dirty="0" err="1"/>
              <a:t>DebugModeShell</a:t>
            </a:r>
            <a:r>
              <a:rPr lang="en-US" altLang="ko-KR" sz="2000" dirty="0"/>
              <a:t> </a:t>
            </a:r>
            <a:r>
              <a:rPr lang="ko-KR" altLang="en-US" sz="2000" dirty="0"/>
              <a:t>모두 </a:t>
            </a:r>
            <a:r>
              <a:rPr lang="en-US" altLang="ko-KR" sz="2000" dirty="0" err="1"/>
              <a:t>FileBackedShell</a:t>
            </a:r>
            <a:r>
              <a:rPr lang="ko-KR" altLang="en-US" sz="2000" dirty="0"/>
              <a:t>의 </a:t>
            </a:r>
            <a:r>
              <a:rPr lang="en-US" altLang="ko-KR" sz="2000" dirty="0"/>
              <a:t>enter()</a:t>
            </a:r>
            <a:r>
              <a:rPr lang="ko-KR" altLang="en-US" sz="2000" dirty="0"/>
              <a:t>가 예상대로 동작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000" b="1" dirty="0"/>
              <a:t>인터페이스 분리 원칙 </a:t>
            </a:r>
            <a:r>
              <a:rPr lang="en-US" altLang="ko-KR" sz="2000" b="1" dirty="0"/>
              <a:t>(ISP)</a:t>
            </a:r>
          </a:p>
          <a:p>
            <a:pPr lvl="1"/>
            <a:r>
              <a:rPr lang="en-US" altLang="ko-KR" sz="2000" dirty="0" err="1"/>
              <a:t>ExprVisitor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StmtVisitor</a:t>
            </a:r>
            <a:r>
              <a:rPr lang="ko-KR" altLang="en-US" sz="2000" dirty="0"/>
              <a:t>를 별도 인터페이스로 분리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ExprVisitor</a:t>
            </a:r>
            <a:r>
              <a:rPr lang="ko-KR" altLang="en-US" sz="2000" dirty="0"/>
              <a:t>가 </a:t>
            </a:r>
            <a:r>
              <a:rPr lang="en-US" altLang="ko-KR" sz="2000" dirty="0"/>
              <a:t>Statement</a:t>
            </a:r>
            <a:r>
              <a:rPr lang="ko-KR" altLang="en-US" sz="2000" dirty="0"/>
              <a:t>를 순회하는 메소드를 강제로 구현하지 않아도 됨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000" b="1" dirty="0"/>
              <a:t>의존 역전 원칙 </a:t>
            </a:r>
            <a:r>
              <a:rPr lang="en-US" altLang="ko-KR" sz="2000" b="1" dirty="0"/>
              <a:t>(DIP)</a:t>
            </a:r>
          </a:p>
          <a:p>
            <a:pPr lvl="1"/>
            <a:r>
              <a:rPr lang="ko-KR" altLang="en-US" sz="2000" dirty="0"/>
              <a:t>인터프리터에서 함수 실행 시 구체클래스가 아닌 </a:t>
            </a:r>
            <a:r>
              <a:rPr lang="en-US" altLang="ko-KR" sz="2000" dirty="0"/>
              <a:t>Callable</a:t>
            </a:r>
            <a:r>
              <a:rPr lang="ko-KR" altLang="en-US" sz="2000" dirty="0"/>
              <a:t> 인터페이스에 의존</a:t>
            </a:r>
            <a:endParaRPr lang="en-US" altLang="ko-KR" sz="2000" dirty="0"/>
          </a:p>
          <a:p>
            <a:pPr lvl="1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0811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BP </a:t>
            </a:r>
            <a:r>
              <a:rPr lang="ko-KR" altLang="en-US" dirty="0"/>
              <a:t>사례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764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37F79-534B-CCA0-0020-B2D0AC52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80" y="310143"/>
            <a:ext cx="11673106" cy="64985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BP </a:t>
            </a:r>
            <a:r>
              <a:rPr lang="ko-KR" altLang="en-US" dirty="0"/>
              <a:t>사례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①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 TDD (Test-Driven Development)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B8C54D27-B9DE-494B-A2C4-92D0F6D7566B}"/>
              </a:ext>
            </a:extLst>
          </p:cNvPr>
          <p:cNvSpPr txBox="1">
            <a:spLocks/>
          </p:cNvSpPr>
          <p:nvPr/>
        </p:nvSpPr>
        <p:spPr>
          <a:xfrm>
            <a:off x="605980" y="119846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en-US" altLang="ko-KR" sz="2000" b="1" dirty="0"/>
              <a:t>PR #75 — Feature/executor unit/interpreter base v4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이상무님</a:t>
            </a:r>
            <a:r>
              <a:rPr lang="en-US" altLang="ko-KR" sz="2000" b="1" dirty="0"/>
              <a:t>)</a:t>
            </a:r>
          </a:p>
          <a:p>
            <a:endParaRPr lang="en-US" altLang="ko-KR" sz="2000" dirty="0"/>
          </a:p>
          <a:p>
            <a:r>
              <a:rPr lang="ko-KR" altLang="en-US" sz="2000" b="1" dirty="0"/>
              <a:t>구현 내용</a:t>
            </a:r>
          </a:p>
          <a:p>
            <a:pPr lvl="1"/>
            <a:r>
              <a:rPr lang="en-US" altLang="ko-KR" sz="2000" dirty="0"/>
              <a:t>Interpreter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ExprVisitor</a:t>
            </a:r>
            <a:r>
              <a:rPr lang="en-US" altLang="ko-KR" sz="2000" dirty="0"/>
              <a:t> / </a:t>
            </a:r>
            <a:r>
              <a:rPr lang="en-US" altLang="ko-KR" sz="2000" dirty="0" err="1"/>
              <a:t>StmtVisitor</a:t>
            </a:r>
            <a:r>
              <a:rPr lang="en-US" altLang="ko-KR" sz="2000" dirty="0"/>
              <a:t> </a:t>
            </a:r>
            <a:r>
              <a:rPr lang="ko-KR" altLang="en-US" sz="2000" dirty="0"/>
              <a:t>구현</a:t>
            </a:r>
          </a:p>
          <a:p>
            <a:pPr lvl="1"/>
            <a:r>
              <a:rPr lang="en-US" altLang="ko-KR" sz="2000" dirty="0" err="1"/>
              <a:t>AssignExpr</a:t>
            </a:r>
            <a:r>
              <a:rPr lang="en-US" altLang="ko-KR" sz="2000" dirty="0"/>
              <a:t> · </a:t>
            </a:r>
            <a:r>
              <a:rPr lang="en-US" altLang="ko-KR" sz="2000" dirty="0" err="1"/>
              <a:t>BinaryExpr</a:t>
            </a:r>
            <a:r>
              <a:rPr lang="en-US" altLang="ko-KR" sz="2000" dirty="0"/>
              <a:t> · </a:t>
            </a:r>
            <a:r>
              <a:rPr lang="en-US" altLang="ko-KR" sz="2000" dirty="0" err="1"/>
              <a:t>UnaryExpr</a:t>
            </a:r>
            <a:r>
              <a:rPr lang="en-US" altLang="ko-KR" sz="2000" dirty="0"/>
              <a:t> · </a:t>
            </a:r>
            <a:r>
              <a:rPr lang="en-US" altLang="ko-KR" sz="2000" dirty="0" err="1"/>
              <a:t>GroupingExpr</a:t>
            </a:r>
            <a:r>
              <a:rPr lang="en-US" altLang="ko-KR" sz="2000" dirty="0"/>
              <a:t> · </a:t>
            </a:r>
            <a:r>
              <a:rPr lang="en-US" altLang="ko-KR" sz="2000" dirty="0" err="1"/>
              <a:t>LogicalExpr</a:t>
            </a:r>
            <a:r>
              <a:rPr lang="en-US" altLang="ko-KR" sz="2000" dirty="0"/>
              <a:t> — 5</a:t>
            </a:r>
            <a:r>
              <a:rPr lang="ko-KR" altLang="en-US" sz="2000" dirty="0"/>
              <a:t>종</a:t>
            </a:r>
          </a:p>
          <a:p>
            <a:endParaRPr lang="ko-KR" altLang="en-US" sz="2000" dirty="0"/>
          </a:p>
          <a:p>
            <a:r>
              <a:rPr lang="ko-KR" altLang="en-US" sz="2000" b="1" dirty="0"/>
              <a:t>선정 사유</a:t>
            </a:r>
          </a:p>
          <a:p>
            <a:pPr lvl="1"/>
            <a:r>
              <a:rPr lang="en-US" altLang="ko-KR" sz="2000" dirty="0"/>
              <a:t>Expr </a:t>
            </a:r>
            <a:r>
              <a:rPr lang="ko-KR" altLang="en-US" sz="2000" dirty="0" err="1"/>
              <a:t>타입별</a:t>
            </a:r>
            <a:r>
              <a:rPr lang="ko-KR" altLang="en-US" sz="2000" dirty="0"/>
              <a:t> </a:t>
            </a:r>
            <a:r>
              <a:rPr lang="en-US" altLang="ko-KR" sz="2000" dirty="0"/>
              <a:t>Red → Green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쌍을 일관되게 준수</a:t>
            </a:r>
            <a:endParaRPr lang="en-US" altLang="ko-KR" sz="2000" dirty="0"/>
          </a:p>
          <a:p>
            <a:pPr lvl="1"/>
            <a:r>
              <a:rPr lang="ko-KR" altLang="en-US" sz="2000" dirty="0"/>
              <a:t>순수 가상 함수 포함 </a:t>
            </a:r>
            <a:r>
              <a:rPr lang="en-US" altLang="ko-KR" sz="2000" dirty="0"/>
              <a:t>Visitor </a:t>
            </a:r>
            <a:r>
              <a:rPr lang="ko-KR" altLang="en-US" sz="2000" dirty="0"/>
              <a:t>특성상 구현 없이 빌드 실패</a:t>
            </a:r>
            <a:br>
              <a:rPr lang="en-US" altLang="ko-KR" sz="2000" dirty="0"/>
            </a:br>
            <a:r>
              <a:rPr lang="ko-KR" altLang="en-US" sz="2000" dirty="0"/>
              <a:t>→ 첫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쌍에서 불가피하게 테스트</a:t>
            </a:r>
            <a:r>
              <a:rPr lang="en-US" altLang="ko-KR" sz="2000" dirty="0"/>
              <a:t>·</a:t>
            </a:r>
            <a:r>
              <a:rPr lang="ko-KR" altLang="en-US" sz="2000" dirty="0"/>
              <a:t>구현을 동시 작성했음을 </a:t>
            </a:r>
            <a:r>
              <a:rPr lang="en-US" altLang="ko-KR" sz="2000" dirty="0"/>
              <a:t>PR </a:t>
            </a:r>
            <a:r>
              <a:rPr lang="ko-KR" altLang="en-US" sz="2000" dirty="0"/>
              <a:t>본문에 명시</a:t>
            </a:r>
            <a:br>
              <a:rPr lang="en-US" altLang="ko-KR" sz="2000" dirty="0"/>
            </a:br>
            <a:r>
              <a:rPr lang="en-US" altLang="ko-KR" sz="2000" dirty="0"/>
              <a:t>    TDD </a:t>
            </a:r>
            <a:r>
              <a:rPr lang="ko-KR" altLang="en-US" sz="2000" dirty="0"/>
              <a:t>원칙과 구조적 제약을 명확히 구분해 설명</a:t>
            </a:r>
            <a:r>
              <a:rPr lang="en-US" altLang="ko-KR" sz="2000" dirty="0"/>
              <a:t> </a:t>
            </a:r>
          </a:p>
          <a:p>
            <a:pPr lvl="1"/>
            <a:r>
              <a:rPr lang="ko-KR" altLang="en-US" sz="2000" dirty="0"/>
              <a:t>코너 케이스를 고려한 테스트 케이스 작성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27940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72515-5639-9015-E6AB-1EE26D3D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80" y="310143"/>
            <a:ext cx="11586020" cy="64985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BP </a:t>
            </a:r>
            <a:r>
              <a:rPr lang="ko-KR" altLang="en-US" dirty="0"/>
              <a:t>사례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①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 TDD (Test-Driven Development)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ECD29-BB8A-A601-5880-30CB8ACDD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Expr</a:t>
            </a:r>
            <a:r>
              <a:rPr lang="ko-KR" altLang="en-US" sz="2000" b="1" dirty="0"/>
              <a:t>별</a:t>
            </a:r>
            <a:r>
              <a:rPr lang="en-US" altLang="ko-KR" sz="2000" b="1" dirty="0"/>
              <a:t> Red</a:t>
            </a:r>
            <a:r>
              <a:rPr lang="ko-KR" altLang="en-US" sz="2000" b="1" dirty="0"/>
              <a:t>→</a:t>
            </a:r>
            <a:r>
              <a:rPr lang="en-US" altLang="ko-KR" sz="2000" b="1" dirty="0"/>
              <a:t>Green </a:t>
            </a:r>
            <a:r>
              <a:rPr lang="ko-KR" altLang="en-US" sz="2000" b="1" dirty="0"/>
              <a:t>쌍을 정확히 지킨 </a:t>
            </a:r>
            <a:r>
              <a:rPr lang="ko-KR" altLang="en-US" sz="2000" b="1" dirty="0" err="1"/>
              <a:t>커밋</a:t>
            </a:r>
            <a:r>
              <a:rPr lang="ko-KR" altLang="en-US" sz="2000" b="1" dirty="0"/>
              <a:t> 로그</a:t>
            </a:r>
            <a:endParaRPr lang="en-US" altLang="ko-KR" sz="2000" b="1" dirty="0"/>
          </a:p>
          <a:p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F5A55C-377B-FE5F-F757-228EF7CE2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60" y="2389151"/>
            <a:ext cx="4791744" cy="39248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1A44A93-843D-3D4C-F26E-1BA899B0A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9151"/>
            <a:ext cx="5382376" cy="2600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0DB591-2785-4C1F-8A3B-ADAB694E8C65}"/>
              </a:ext>
            </a:extLst>
          </p:cNvPr>
          <p:cNvSpPr txBox="1"/>
          <p:nvPr/>
        </p:nvSpPr>
        <p:spPr>
          <a:xfrm>
            <a:off x="975360" y="1894849"/>
            <a:ext cx="10241280" cy="292388"/>
          </a:xfrm>
          <a:prstGeom prst="rect">
            <a:avLst/>
          </a:prstGeom>
          <a:solidFill>
            <a:srgbClr val="123018"/>
          </a:solidFill>
          <a:ln w="19050">
            <a:solidFill>
              <a:srgbClr val="4CFF7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7FFFA0"/>
                </a:solidFill>
              </a:rPr>
              <a:t>🔴 [</a:t>
            </a:r>
            <a:r>
              <a:rPr sz="1300" b="1" dirty="0" err="1">
                <a:solidFill>
                  <a:srgbClr val="7FFFA0"/>
                </a:solidFill>
              </a:rPr>
              <a:t>UnitTest</a:t>
            </a:r>
            <a:r>
              <a:rPr sz="1300" b="1" dirty="0">
                <a:solidFill>
                  <a:srgbClr val="7FFFA0"/>
                </a:solidFill>
              </a:rPr>
              <a:t>] → 🟢 [</a:t>
            </a:r>
            <a:r>
              <a:rPr sz="1300" b="1" dirty="0" err="1">
                <a:solidFill>
                  <a:srgbClr val="7FFFA0"/>
                </a:solidFill>
              </a:rPr>
              <a:t>FeatureImplement</a:t>
            </a:r>
            <a:r>
              <a:rPr sz="1300" b="1" dirty="0">
                <a:solidFill>
                  <a:srgbClr val="7FFFA0"/>
                </a:solidFill>
              </a:rPr>
              <a:t>]  ×  5개 Expr = 10커밋</a:t>
            </a:r>
          </a:p>
        </p:txBody>
      </p:sp>
      <p:sp>
        <p:nvSpPr>
          <p:cNvPr id="4" name="화살표: 오른쪽으로 구부러짐 3">
            <a:extLst>
              <a:ext uri="{FF2B5EF4-FFF2-40B4-BE49-F238E27FC236}">
                <a16:creationId xmlns:a16="http://schemas.microsoft.com/office/drawing/2014/main" id="{5FAE1BF7-B226-40B7-9711-0ABE0752A2D2}"/>
              </a:ext>
            </a:extLst>
          </p:cNvPr>
          <p:cNvSpPr/>
          <p:nvPr/>
        </p:nvSpPr>
        <p:spPr>
          <a:xfrm>
            <a:off x="364915" y="2779141"/>
            <a:ext cx="482130" cy="64985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오른쪽으로 구부러짐 7">
            <a:extLst>
              <a:ext uri="{FF2B5EF4-FFF2-40B4-BE49-F238E27FC236}">
                <a16:creationId xmlns:a16="http://schemas.microsoft.com/office/drawing/2014/main" id="{6320E39C-B366-4C75-8916-629D971A5724}"/>
              </a:ext>
            </a:extLst>
          </p:cNvPr>
          <p:cNvSpPr/>
          <p:nvPr/>
        </p:nvSpPr>
        <p:spPr>
          <a:xfrm>
            <a:off x="294590" y="4120261"/>
            <a:ext cx="482130" cy="64985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오른쪽으로 구부러짐 9">
            <a:extLst>
              <a:ext uri="{FF2B5EF4-FFF2-40B4-BE49-F238E27FC236}">
                <a16:creationId xmlns:a16="http://schemas.microsoft.com/office/drawing/2014/main" id="{AFDA2386-0DCC-4B10-A539-6663D6380BD0}"/>
              </a:ext>
            </a:extLst>
          </p:cNvPr>
          <p:cNvSpPr/>
          <p:nvPr/>
        </p:nvSpPr>
        <p:spPr>
          <a:xfrm>
            <a:off x="364915" y="5392801"/>
            <a:ext cx="482130" cy="64985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7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72515-5639-9015-E6AB-1EE26D3D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80" y="310143"/>
            <a:ext cx="11586020" cy="64985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BP </a:t>
            </a:r>
            <a:r>
              <a:rPr lang="ko-KR" altLang="en-US" dirty="0"/>
              <a:t>사례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①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 TDD (Test-Driven Development)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ECD29-BB8A-A601-5880-30CB8ACDD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2000" b="1" dirty="0">
                <a:solidFill>
                  <a:schemeClr val="tx1"/>
                </a:solidFill>
              </a:rPr>
              <a:t>TDD BP </a:t>
            </a:r>
            <a:r>
              <a:rPr lang="ko-KR" altLang="en-US" sz="2000" b="1" dirty="0">
                <a:solidFill>
                  <a:schemeClr val="tx1"/>
                </a:solidFill>
              </a:rPr>
              <a:t>사례 </a:t>
            </a:r>
            <a:r>
              <a:rPr lang="en-US" altLang="ko-KR" sz="2000" b="1" dirty="0">
                <a:solidFill>
                  <a:schemeClr val="tx1"/>
                </a:solidFill>
              </a:rPr>
              <a:t>– </a:t>
            </a:r>
            <a:r>
              <a:rPr lang="ko-KR" altLang="en-US" sz="2000" b="1" dirty="0">
                <a:solidFill>
                  <a:schemeClr val="tx1"/>
                </a:solidFill>
              </a:rPr>
              <a:t>테스트 케이스 증가 추이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08E10-5FD3-4FBE-A9D2-D4D0CA76A643}"/>
              </a:ext>
            </a:extLst>
          </p:cNvPr>
          <p:cNvSpPr txBox="1"/>
          <p:nvPr/>
        </p:nvSpPr>
        <p:spPr>
          <a:xfrm>
            <a:off x="8337010" y="2102367"/>
            <a:ext cx="1828800" cy="769441"/>
          </a:xfrm>
          <a:prstGeom prst="rect">
            <a:avLst/>
          </a:prstGeom>
          <a:solidFill>
            <a:srgbClr val="1A2035"/>
          </a:solidFill>
          <a:ln w="19050">
            <a:solidFill>
              <a:srgbClr val="4CFF7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4CFF72"/>
                </a:solidFill>
              </a:rPr>
              <a:t>최종</a:t>
            </a:r>
            <a:r>
              <a:rPr sz="2200" b="1" dirty="0">
                <a:solidFill>
                  <a:srgbClr val="4CFF72"/>
                </a:solidFill>
              </a:rPr>
              <a:t>
</a:t>
            </a:r>
            <a:r>
              <a:rPr lang="en-US" sz="2200" b="1" dirty="0">
                <a:solidFill>
                  <a:srgbClr val="4CFF72"/>
                </a:solidFill>
              </a:rPr>
              <a:t>339</a:t>
            </a:r>
            <a:r>
              <a:rPr sz="2200" b="1" dirty="0">
                <a:solidFill>
                  <a:srgbClr val="4CFF72"/>
                </a:solidFill>
              </a:rPr>
              <a:t>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705215-2931-4EAE-997A-C0A25B98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95" y="2102367"/>
            <a:ext cx="6400800" cy="41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4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4225-E276-14A1-4FE4-3AAA67B8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C45A6-1685-48DA-41A7-3EA21831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sz="440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dirty="0">
                <a:solidFill>
                  <a:srgbClr val="262626"/>
                </a:solidFill>
                <a:latin typeface="Malgun Gothic"/>
              </a:rPr>
              <a:t>사례 ② </a:t>
            </a:r>
            <a:r>
              <a:rPr lang="en-US" altLang="ko-KR" sz="4400" dirty="0">
                <a:solidFill>
                  <a:srgbClr val="262626"/>
                </a:solidFill>
                <a:latin typeface="Malgun Gothic"/>
              </a:rPr>
              <a:t>Refactoring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57E92-03BF-E51E-66BF-AAED2683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033399"/>
            <a:ext cx="11189780" cy="49276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b="1" dirty="0"/>
              <a:t>PR #69 — Feature/checker/pr4 declare define scope model (</a:t>
            </a:r>
            <a:r>
              <a:rPr lang="ko-KR" altLang="en-US" sz="2000" b="1" dirty="0"/>
              <a:t>엄준용님</a:t>
            </a:r>
            <a:r>
              <a:rPr lang="en-US" altLang="ko-KR" sz="2000" b="1" dirty="0"/>
              <a:t>)</a:t>
            </a:r>
          </a:p>
          <a:p>
            <a:pPr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2000" b="1" dirty="0"/>
              <a:t>구현 내용</a:t>
            </a:r>
          </a:p>
          <a:p>
            <a:pPr lvl="1">
              <a:lnSpc>
                <a:spcPct val="100000"/>
              </a:lnSpc>
            </a:pPr>
            <a:r>
              <a:rPr lang="en-US" altLang="ko-KR" sz="1800" dirty="0"/>
              <a:t>Checker</a:t>
            </a:r>
            <a:r>
              <a:rPr lang="ko-KR" altLang="en-US" sz="1800" dirty="0"/>
              <a:t>의 자기 참조 검사할 때 트리를 </a:t>
            </a:r>
            <a:r>
              <a:rPr lang="en-US" altLang="ko-KR" sz="1800" dirty="0"/>
              <a:t>2</a:t>
            </a:r>
            <a:r>
              <a:rPr lang="ko-KR" altLang="en-US" sz="1800" dirty="0"/>
              <a:t>번 </a:t>
            </a:r>
            <a:r>
              <a:rPr lang="ko-KR" altLang="en-US" sz="1800" dirty="0" err="1"/>
              <a:t>순회했었음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en-US" altLang="ko-KR" sz="1800" dirty="0"/>
              <a:t>Crafting Interpreters </a:t>
            </a:r>
            <a:r>
              <a:rPr lang="ko-KR" altLang="en-US" sz="1800" dirty="0"/>
              <a:t>표준 </a:t>
            </a:r>
            <a:r>
              <a:rPr lang="en-US" altLang="ko-KR" sz="1800" dirty="0"/>
              <a:t>Resolver </a:t>
            </a:r>
            <a:r>
              <a:rPr lang="ko-KR" altLang="en-US" sz="1800" dirty="0"/>
              <a:t>패턴</a:t>
            </a:r>
            <a:r>
              <a:rPr lang="en-US" altLang="ko-KR" sz="1800" dirty="0"/>
              <a:t>(declare → define 2</a:t>
            </a:r>
            <a:r>
              <a:rPr lang="ko-KR" altLang="en-US" sz="1800" dirty="0"/>
              <a:t>단계</a:t>
            </a:r>
            <a:r>
              <a:rPr lang="en-US" altLang="ko-KR" sz="1800" dirty="0"/>
              <a:t>)</a:t>
            </a:r>
            <a:r>
              <a:rPr lang="ko-KR" altLang="en-US" sz="1800" dirty="0"/>
              <a:t>으로 전환한 순수 </a:t>
            </a:r>
            <a:r>
              <a:rPr lang="ko-KR" altLang="en-US" sz="1800" dirty="0" err="1"/>
              <a:t>리팩토링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endParaRPr lang="ko-KR" altLang="en-US" sz="1800" dirty="0"/>
          </a:p>
          <a:p>
            <a:pPr>
              <a:lnSpc>
                <a:spcPct val="100000"/>
              </a:lnSpc>
            </a:pPr>
            <a:r>
              <a:rPr lang="ko-KR" altLang="en-US" sz="2000" b="1" dirty="0"/>
              <a:t>선정 사유</a:t>
            </a:r>
            <a:endParaRPr lang="en-US" altLang="ko-KR" sz="2000" b="1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동작 변경 없음을 </a:t>
            </a:r>
            <a:r>
              <a:rPr lang="en-US" altLang="ko-KR" sz="1800" dirty="0"/>
              <a:t>PR </a:t>
            </a:r>
            <a:r>
              <a:rPr lang="ko-KR" altLang="en-US" sz="1800" dirty="0"/>
              <a:t>본문에 명시하고 기존 테스트로 직접 검증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 err="1"/>
              <a:t>리팩토링</a:t>
            </a:r>
            <a:r>
              <a:rPr lang="ko-KR" altLang="en-US" sz="1800" dirty="0"/>
              <a:t> 동기를 미래 확장성으로 명확히 설명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 err="1"/>
              <a:t>리팩토링으로</a:t>
            </a:r>
            <a:r>
              <a:rPr lang="ko-KR" altLang="en-US" sz="1800" dirty="0"/>
              <a:t> 발생한 새 리스크</a:t>
            </a:r>
            <a:r>
              <a:rPr lang="en-US" altLang="ko-KR" sz="1800" dirty="0"/>
              <a:t>(define </a:t>
            </a:r>
            <a:r>
              <a:rPr lang="ko-KR" altLang="en-US" sz="1800" dirty="0"/>
              <a:t>호출 누락 가능성</a:t>
            </a:r>
            <a:r>
              <a:rPr lang="en-US" altLang="ko-KR" sz="1800" dirty="0"/>
              <a:t>)</a:t>
            </a:r>
            <a:r>
              <a:rPr lang="ko-KR" altLang="en-US" sz="1800" dirty="0"/>
              <a:t>를 스스로 인지하고 안전장치 추가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673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5A0C-6A3E-CBEA-9CB0-6934A3A3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51952-1168-124D-B182-52CD014F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sz="440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dirty="0">
                <a:solidFill>
                  <a:srgbClr val="262626"/>
                </a:solidFill>
                <a:latin typeface="Malgun Gothic"/>
              </a:rPr>
              <a:t>사례 ③ </a:t>
            </a:r>
            <a:r>
              <a:rPr lang="en-US" altLang="ko-KR" sz="4400" dirty="0">
                <a:solidFill>
                  <a:srgbClr val="262626"/>
                </a:solidFill>
                <a:latin typeface="Malgun Gothic"/>
              </a:rPr>
              <a:t>Code Review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C3721D-FCA1-68AD-428E-09641196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591471"/>
            <a:ext cx="10515600" cy="492768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ko-KR" altLang="en-US" sz="2000" dirty="0"/>
          </a:p>
          <a:p>
            <a:r>
              <a:rPr lang="en-US" altLang="ko-KR" sz="2000" b="1" dirty="0"/>
              <a:t>PR #18 — Interpreter </a:t>
            </a:r>
            <a:r>
              <a:rPr lang="ko-KR" altLang="en-US" sz="2000" b="1" dirty="0"/>
              <a:t>클래스 멤버인 </a:t>
            </a:r>
            <a:r>
              <a:rPr lang="en-US" altLang="ko-KR" sz="2000" b="1" dirty="0"/>
              <a:t>Environment </a:t>
            </a:r>
            <a:r>
              <a:rPr lang="ko-KR" altLang="en-US" sz="2000" b="1" dirty="0"/>
              <a:t>구현</a:t>
            </a:r>
            <a:endParaRPr lang="en-US" altLang="ko-KR" sz="2000" b="1" dirty="0"/>
          </a:p>
          <a:p>
            <a:pPr lvl="1"/>
            <a:r>
              <a:rPr lang="ko-KR" altLang="en-US" sz="2000" dirty="0">
                <a:solidFill>
                  <a:srgbClr val="005AB4"/>
                </a:solidFill>
              </a:rPr>
              <a:t>코드 리뷰가 실제로 코드 품질을 끌어올린 사례</a:t>
            </a:r>
          </a:p>
          <a:p>
            <a:endParaRPr lang="en-US" altLang="ko-KR" sz="2000" b="1" dirty="0"/>
          </a:p>
          <a:p>
            <a:r>
              <a:rPr lang="ko-KR" altLang="en-US" sz="2000" b="1" dirty="0"/>
              <a:t>선정 사유</a:t>
            </a:r>
            <a:endParaRPr lang="en-US" altLang="ko-KR" sz="2000" b="1" dirty="0"/>
          </a:p>
          <a:p>
            <a:pPr lvl="1"/>
            <a:r>
              <a:rPr lang="ko-KR" altLang="en-US" sz="2000" b="1" dirty="0"/>
              <a:t>버그 직접 지적</a:t>
            </a:r>
            <a:endParaRPr lang="en-US" altLang="ko-KR" sz="2000" b="1" dirty="0"/>
          </a:p>
          <a:p>
            <a:pPr lvl="2"/>
            <a:r>
              <a:rPr lang="ko-KR" altLang="en-US" sz="1800" dirty="0"/>
              <a:t>오류 로직 지적과 함께 </a:t>
            </a:r>
            <a:r>
              <a:rPr lang="en-US" altLang="ko-KR" sz="1800" dirty="0"/>
              <a:t>suggestion </a:t>
            </a:r>
            <a:r>
              <a:rPr lang="ko-KR" altLang="en-US" sz="1800" dirty="0"/>
              <a:t>블록으로 정확한 수정코드까지 직접 제시</a:t>
            </a:r>
            <a:endParaRPr lang="en-US" altLang="ko-KR" sz="1400" dirty="0"/>
          </a:p>
          <a:p>
            <a:pPr lvl="1"/>
            <a:endParaRPr lang="en-US" altLang="ko-KR" dirty="0"/>
          </a:p>
          <a:p>
            <a:pPr lvl="1"/>
            <a:r>
              <a:rPr lang="ko-KR" altLang="en-US" sz="2000" b="1" dirty="0"/>
              <a:t>커버리지 공백 → 추가 버그 발견</a:t>
            </a:r>
            <a:endParaRPr lang="en-US" altLang="ko-KR" sz="2000" b="1" dirty="0"/>
          </a:p>
          <a:p>
            <a:pPr lvl="2"/>
            <a:r>
              <a:rPr lang="en-US" altLang="ko-KR" sz="1800" dirty="0"/>
              <a:t>happy-path </a:t>
            </a:r>
            <a:r>
              <a:rPr lang="ko-KR" altLang="en-US" sz="1800" dirty="0"/>
              <a:t>테스트 누락 언급</a:t>
            </a:r>
            <a:r>
              <a:rPr lang="en-US" altLang="ko-KR" sz="1800" dirty="0"/>
              <a:t>, </a:t>
            </a:r>
            <a:r>
              <a:rPr lang="ko-KR" altLang="en-US" sz="1800" dirty="0"/>
              <a:t>테스트를 추가하던 중 별개의 로직 오류를 추가 발견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ko-KR" altLang="en-US" sz="1800" dirty="0"/>
              <a:t>리뷰 한 건으로 버그 두 개를 잡아낸 사례</a:t>
            </a:r>
          </a:p>
        </p:txBody>
      </p:sp>
    </p:spTree>
    <p:extLst>
      <p:ext uri="{BB962C8B-B14F-4D97-AF65-F5344CB8AC3E}">
        <p14:creationId xmlns:p14="http://schemas.microsoft.com/office/powerpoint/2010/main" val="753776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748BA-236B-4376-A85F-B0ED428B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16CF6B-A1EA-49FA-BED4-2B82F4CEE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/>
              <a:t>프로젝트 진행 전 과정에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활용</a:t>
            </a:r>
          </a:p>
          <a:p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327A2A-69BA-418D-8471-00668B91D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20" y="2116658"/>
            <a:ext cx="5739357" cy="430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5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332CF-89DD-4435-9661-90368BA4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 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378C2-0AC3-4C49-AD47-3A358A2E8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/>
              <a:t>코드 리뷰의 어려운 점 </a:t>
            </a:r>
            <a:endParaRPr lang="en-US" altLang="ko-KR" sz="2000" b="1" dirty="0"/>
          </a:p>
          <a:p>
            <a:pPr lvl="1"/>
            <a:r>
              <a:rPr lang="ko-KR" altLang="en-US" sz="2000" dirty="0"/>
              <a:t>다른 사람이 개발하는 모듈에 대해 잘 모를 때</a:t>
            </a:r>
            <a:endParaRPr lang="en-US" altLang="ko-KR" sz="2000" dirty="0"/>
          </a:p>
          <a:p>
            <a:pPr lvl="1"/>
            <a:r>
              <a:rPr lang="ko-KR" altLang="en-US" sz="2000" dirty="0"/>
              <a:t>내가 잘 모르는 개념과 기술을 사용할 때</a:t>
            </a:r>
            <a:br>
              <a:rPr lang="en-US" altLang="ko-KR" sz="2000" dirty="0"/>
            </a:br>
            <a:r>
              <a:rPr lang="ko-KR" altLang="en-US" sz="2000" b="1" dirty="0">
                <a:solidFill>
                  <a:srgbClr val="0070C0"/>
                </a:solidFill>
              </a:rPr>
              <a:t>→</a:t>
            </a:r>
            <a:r>
              <a:rPr lang="en-US" altLang="ko-KR" sz="2000" b="1" dirty="0">
                <a:solidFill>
                  <a:srgbClr val="0070C0"/>
                </a:solidFill>
              </a:rPr>
              <a:t> AI</a:t>
            </a:r>
            <a:r>
              <a:rPr lang="ko-KR" altLang="en-US" sz="2000" b="1" dirty="0">
                <a:solidFill>
                  <a:srgbClr val="0070C0"/>
                </a:solidFill>
              </a:rPr>
              <a:t>를 활용하여 해결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3134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6FF6C-7775-4A26-A36B-FB2F6DC3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F714F6-AAFE-472F-ABB2-2A29277DF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AI</a:t>
            </a:r>
            <a:r>
              <a:rPr lang="ko-KR" altLang="en-US" sz="2000" dirty="0"/>
              <a:t>를 통해 사람을 거치지 않고도 리뷰 가능</a:t>
            </a:r>
            <a:endParaRPr lang="en-US" altLang="ko-KR" sz="2000" dirty="0"/>
          </a:p>
          <a:p>
            <a:r>
              <a:rPr lang="en-US" altLang="ko-KR" sz="2000" dirty="0"/>
              <a:t>GitHub</a:t>
            </a:r>
            <a:r>
              <a:rPr lang="ko-KR" altLang="en-US" sz="2000" dirty="0"/>
              <a:t> </a:t>
            </a:r>
            <a:r>
              <a:rPr lang="en-US" altLang="ko-KR" sz="2000" dirty="0"/>
              <a:t>Actions</a:t>
            </a:r>
            <a:r>
              <a:rPr lang="ko-KR" altLang="en-US" sz="2000" dirty="0"/>
              <a:t>으로 </a:t>
            </a:r>
            <a:r>
              <a:rPr lang="en-US" altLang="ko-KR" sz="2000" dirty="0"/>
              <a:t>merge</a:t>
            </a:r>
            <a:r>
              <a:rPr lang="ko-KR" altLang="en-US" sz="2000" dirty="0"/>
              <a:t>도 자동으로 설정 가능</a:t>
            </a:r>
            <a:endParaRPr lang="en-US" altLang="ko-KR" sz="2000" dirty="0"/>
          </a:p>
          <a:p>
            <a:r>
              <a:rPr lang="ko-KR" altLang="en-US" sz="2000" dirty="0">
                <a:solidFill>
                  <a:srgbClr val="0070C0"/>
                </a:solidFill>
              </a:rPr>
              <a:t>학습을 위해 리뷰에 도움되는 방향으로만 활용</a:t>
            </a:r>
            <a:endParaRPr lang="en-US" altLang="ko-KR" sz="2000" dirty="0"/>
          </a:p>
          <a:p>
            <a:pPr lvl="2"/>
            <a:endParaRPr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90F15B-E897-412E-A913-2D7D1ECA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20" y="3429000"/>
            <a:ext cx="10158946" cy="27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17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92F49-D522-4F10-908E-E1806E33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60A7E0-6C73-4DD1-930F-2DB48439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Claude</a:t>
            </a:r>
            <a:r>
              <a:rPr lang="ko-KR" altLang="en-US" sz="2000" b="1" dirty="0"/>
              <a:t>에서 참고할 </a:t>
            </a:r>
            <a:r>
              <a:rPr lang="en-US" altLang="ko-KR" sz="2000" b="1" dirty="0"/>
              <a:t>.md </a:t>
            </a:r>
            <a:r>
              <a:rPr lang="ko-KR" altLang="en-US" sz="2000" b="1" dirty="0"/>
              <a:t>파일에 스타일을 명시</a:t>
            </a:r>
            <a:endParaRPr lang="en-US" altLang="ko-KR" sz="2000" b="1" dirty="0"/>
          </a:p>
          <a:p>
            <a:endParaRPr lang="en-US" altLang="ko-KR" sz="2000" dirty="0"/>
          </a:p>
          <a:p>
            <a:r>
              <a:rPr lang="ko-KR" altLang="en-US" sz="2000" b="1" dirty="0"/>
              <a:t>기본 원칙</a:t>
            </a:r>
          </a:p>
          <a:p>
            <a:pPr lvl="1"/>
            <a:r>
              <a:rPr lang="ko-KR" altLang="en-US" sz="2000" dirty="0" err="1"/>
              <a:t>경어체</a:t>
            </a:r>
            <a:r>
              <a:rPr lang="ko-KR" altLang="en-US" sz="2000" dirty="0"/>
              <a:t> 유지  </a:t>
            </a:r>
            <a:r>
              <a:rPr lang="en-US" altLang="ko-KR" sz="2000" dirty="0"/>
              <a:t>—  </a:t>
            </a:r>
            <a:r>
              <a:rPr lang="ko-KR" altLang="en-US" sz="2000" dirty="0"/>
              <a:t>팀 막내 관점의 공손한 톤</a:t>
            </a:r>
          </a:p>
          <a:p>
            <a:pPr lvl="1"/>
            <a:r>
              <a:rPr lang="ko-KR" altLang="en-US" sz="2000" dirty="0"/>
              <a:t>칭찬 먼저  </a:t>
            </a:r>
            <a:r>
              <a:rPr lang="en-US" altLang="ko-KR" sz="2000" dirty="0"/>
              <a:t>—  </a:t>
            </a:r>
            <a:r>
              <a:rPr lang="ko-KR" altLang="en-US" sz="2000" dirty="0"/>
              <a:t>좋은 패턴이나 설계 결정을 구체적으로 언급</a:t>
            </a:r>
          </a:p>
          <a:p>
            <a:pPr lvl="1"/>
            <a:r>
              <a:rPr lang="ko-KR" altLang="en-US" sz="2000" dirty="0"/>
              <a:t>제안 형식  </a:t>
            </a:r>
            <a:r>
              <a:rPr lang="en-US" altLang="ko-KR" sz="2000" dirty="0"/>
              <a:t>—  </a:t>
            </a:r>
            <a:r>
              <a:rPr lang="ko-KR" altLang="en-US" sz="2000" dirty="0"/>
              <a:t>단정보다 </a:t>
            </a:r>
            <a:r>
              <a:rPr lang="en-US" altLang="ko-KR" sz="2000" dirty="0"/>
              <a:t>"~</a:t>
            </a:r>
            <a:r>
              <a:rPr lang="ko-KR" altLang="en-US" sz="2000" dirty="0"/>
              <a:t>하면 더 안전할 것 같습니다</a:t>
            </a:r>
            <a:r>
              <a:rPr lang="en-US" altLang="ko-KR" sz="2000" dirty="0"/>
              <a:t>" </a:t>
            </a:r>
            <a:r>
              <a:rPr lang="ko-KR" altLang="en-US" sz="2000" dirty="0"/>
              <a:t>형식</a:t>
            </a:r>
          </a:p>
          <a:p>
            <a:pPr lvl="1"/>
            <a:r>
              <a:rPr lang="ko-KR" altLang="en-US" sz="2000" dirty="0"/>
              <a:t>기술 포인트 명시  </a:t>
            </a:r>
            <a:r>
              <a:rPr lang="en-US" altLang="ko-KR" sz="2000" dirty="0"/>
              <a:t>—  </a:t>
            </a:r>
            <a:r>
              <a:rPr lang="ko-KR" altLang="en-US" sz="2000" dirty="0"/>
              <a:t>막연한 칭찬 대신 구체적 근거 제시</a:t>
            </a:r>
          </a:p>
          <a:p>
            <a:endParaRPr lang="ko-KR" altLang="en-US" sz="2000" dirty="0"/>
          </a:p>
          <a:p>
            <a:r>
              <a:rPr lang="ko-KR" altLang="en-US" sz="2000" b="1" dirty="0"/>
              <a:t>코멘트 구조</a:t>
            </a:r>
          </a:p>
          <a:p>
            <a:pPr lvl="1"/>
            <a:r>
              <a:rPr lang="en-US" altLang="ko-KR" sz="2000" dirty="0"/>
              <a:t>[</a:t>
            </a:r>
            <a:r>
              <a:rPr lang="ko-KR" altLang="en-US" sz="2000" dirty="0"/>
              <a:t>칭찬</a:t>
            </a:r>
            <a:r>
              <a:rPr lang="en-US" altLang="ko-KR" sz="2000" dirty="0"/>
              <a:t>]  </a:t>
            </a:r>
            <a:r>
              <a:rPr lang="ko-KR" altLang="en-US" sz="2000" dirty="0"/>
              <a:t>핵심 설계 결정을 구체적으로 언급</a:t>
            </a:r>
          </a:p>
          <a:p>
            <a:pPr lvl="1"/>
            <a:r>
              <a:rPr lang="en-US" altLang="ko-KR" sz="2000" dirty="0"/>
              <a:t>[</a:t>
            </a:r>
            <a:r>
              <a:rPr lang="ko-KR" altLang="en-US" sz="2000" dirty="0"/>
              <a:t>포인트</a:t>
            </a:r>
            <a:r>
              <a:rPr lang="en-US" altLang="ko-KR" sz="2000" dirty="0"/>
              <a:t>]  </a:t>
            </a:r>
            <a:r>
              <a:rPr lang="ko-KR" altLang="en-US" sz="2000" dirty="0"/>
              <a:t>마이너한 개선 포인트  </a:t>
            </a:r>
            <a:r>
              <a:rPr lang="en-US" altLang="ko-KR" sz="2000" dirty="0"/>
              <a:t>(</a:t>
            </a:r>
            <a:r>
              <a:rPr lang="ko-KR" altLang="en-US" sz="2000" dirty="0"/>
              <a:t>예외 안전성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const_cast</a:t>
            </a:r>
            <a:r>
              <a:rPr lang="en-US" altLang="ko-KR" sz="2000" dirty="0"/>
              <a:t>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[</a:t>
            </a:r>
            <a:r>
              <a:rPr lang="ko-KR" altLang="en-US" sz="2000" dirty="0"/>
              <a:t>마무리</a:t>
            </a:r>
            <a:r>
              <a:rPr lang="en-US" altLang="ko-KR" sz="2000" dirty="0"/>
              <a:t>]  </a:t>
            </a:r>
            <a:r>
              <a:rPr lang="ko-KR" altLang="en-US" sz="2000" dirty="0"/>
              <a:t>고생하셨다는 인사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027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528E0-E86E-45CE-83D4-3E8D5067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A4D2CF-4FEC-43D2-B696-DD3680ABB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변경 내용 요약으로 변경 사항을 빠르게 파악 가능</a:t>
            </a:r>
            <a:endParaRPr lang="en-US" altLang="ko-KR" sz="2000" dirty="0"/>
          </a:p>
          <a:p>
            <a:r>
              <a:rPr lang="ko-KR" altLang="en-US" sz="2000" dirty="0"/>
              <a:t>기초지식 설명으로 학습과 리뷰에 도움이 됨</a:t>
            </a:r>
          </a:p>
          <a:p>
            <a:endParaRPr lang="ko-KR" altLang="en-US" sz="2000" dirty="0"/>
          </a:p>
          <a:p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82B555-C697-4715-BE89-E82323C38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99" y="2585802"/>
            <a:ext cx="6833285" cy="18169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8EEA9F-E8E7-4A86-81C5-0315AF21BD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69"/>
          <a:stretch/>
        </p:blipFill>
        <p:spPr>
          <a:xfrm>
            <a:off x="1182180" y="4472015"/>
            <a:ext cx="5625020" cy="17027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E595EB-F439-4526-928C-B9C8D0C99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940" y="2987280"/>
            <a:ext cx="7981761" cy="252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86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05CAD-3024-46E0-9C7F-877F50AC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BP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사례 ④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 AI </a:t>
            </a:r>
            <a:r>
              <a:rPr lang="ko-KR" altLang="en-US" sz="4400" i="0" dirty="0">
                <a:solidFill>
                  <a:srgbClr val="262626"/>
                </a:solidFill>
                <a:latin typeface="Malgun Gothic"/>
              </a:rPr>
              <a:t>활용 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(</a:t>
            </a:r>
            <a:r>
              <a:rPr lang="en-US" altLang="ko-KR" dirty="0"/>
              <a:t>AI</a:t>
            </a:r>
            <a:r>
              <a:rPr lang="ko-KR" altLang="en-US" dirty="0"/>
              <a:t> 코드리뷰 에이전트</a:t>
            </a:r>
            <a:r>
              <a:rPr lang="en-US" altLang="ko-KR" sz="4400" i="0" dirty="0">
                <a:solidFill>
                  <a:srgbClr val="262626"/>
                </a:solidFill>
                <a:latin typeface="Malgun Gothic"/>
              </a:rPr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896716-0AE4-467F-8DD5-FBB262BF3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" y="1335944"/>
            <a:ext cx="9423845" cy="513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8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altLang="en-US" dirty="0"/>
              <a:t>소감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7010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1838-021B-4F5C-8CA0-D43E58FB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소감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AB5305-723F-4D64-982E-0AE953569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이론으로 배운 문제 상황을 가장 잘 경험할 수 있는 방법</a:t>
            </a:r>
            <a:endParaRPr lang="en-US" altLang="ko-KR" dirty="0"/>
          </a:p>
          <a:p>
            <a:pPr lvl="1"/>
            <a:r>
              <a:rPr lang="ko-KR" altLang="en-US" dirty="0"/>
              <a:t>특히 의존성 문제를 가장 크게 경험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ko-KR" altLang="en-US" dirty="0"/>
              <a:t>정말 편리했고 더 잘 활용했으면 좋았을 것 같다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의사소통의 중요성</a:t>
            </a:r>
            <a:endParaRPr lang="en-US" altLang="ko-KR" dirty="0"/>
          </a:p>
          <a:p>
            <a:pPr lvl="1"/>
            <a:r>
              <a:rPr lang="ko-KR" altLang="en-US" dirty="0"/>
              <a:t>서로 생각이 달라 먼저 생각을 맞추고 </a:t>
            </a:r>
            <a:r>
              <a:rPr lang="ko-KR" altLang="en-US" dirty="0" err="1"/>
              <a:t>시작하는게</a:t>
            </a:r>
            <a:r>
              <a:rPr lang="ko-KR" altLang="en-US" dirty="0"/>
              <a:t> 중요하다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많은 걸 배워간다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248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altLang="en-US" dirty="0"/>
              <a:t>프로젝트 시연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572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61227-AC0D-48E3-A8EA-53DD3DDC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프로젝트 시연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7C9D6-CBEF-4006-B7CE-E5DBFDBF4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316376"/>
            <a:ext cx="10996740" cy="492768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원활한 시연을 위해 텍스트 파일 모드로 실행하는 스크립트 활용</a:t>
            </a:r>
            <a:endParaRPr lang="en-US" altLang="ko-KR" sz="2000" dirty="0"/>
          </a:p>
          <a:p>
            <a:r>
              <a:rPr lang="ko-KR" altLang="en-US" sz="2000" dirty="0"/>
              <a:t>준비한 테스트 파일을 읽고 실행</a:t>
            </a:r>
            <a:endParaRPr lang="en-US" altLang="ko-KR" sz="2000" dirty="0"/>
          </a:p>
          <a:p>
            <a:r>
              <a:rPr lang="ko-KR" altLang="en-US" sz="2000" dirty="0"/>
              <a:t>아래 항목들을 모두 테스트하고 </a:t>
            </a:r>
            <a:r>
              <a:rPr lang="en-US" altLang="ko-KR" sz="2000" dirty="0"/>
              <a:t>.html </a:t>
            </a:r>
            <a:r>
              <a:rPr lang="ko-KR" altLang="en-US" sz="2000" dirty="0"/>
              <a:t>파일로 결과 생성</a:t>
            </a:r>
            <a:endParaRPr lang="en-US" altLang="ko-KR" sz="2000" dirty="0"/>
          </a:p>
          <a:p>
            <a:pPr lvl="1"/>
            <a:r>
              <a:rPr lang="ko-KR" altLang="en-US" sz="2000" dirty="0"/>
              <a:t>언어 기본 기능</a:t>
            </a:r>
            <a:endParaRPr lang="en-US" altLang="ko-KR" sz="2000" dirty="0"/>
          </a:p>
          <a:p>
            <a:pPr lvl="1"/>
            <a:r>
              <a:rPr lang="ko-KR" altLang="en-US" sz="2000" dirty="0"/>
              <a:t>함수</a:t>
            </a:r>
            <a:r>
              <a:rPr lang="en-US" altLang="ko-KR" sz="2000" dirty="0"/>
              <a:t>(FUNC) </a:t>
            </a:r>
            <a:r>
              <a:rPr lang="ko-KR" altLang="en-US" sz="2000" dirty="0"/>
              <a:t>기능</a:t>
            </a:r>
            <a:endParaRPr lang="en-US" altLang="ko-KR" sz="2000" dirty="0"/>
          </a:p>
          <a:p>
            <a:pPr lvl="1"/>
            <a:r>
              <a:rPr lang="ko-KR" altLang="en-US" sz="2000" dirty="0"/>
              <a:t>클래스</a:t>
            </a:r>
            <a:r>
              <a:rPr lang="en-US" altLang="ko-KR" sz="2000" dirty="0"/>
              <a:t>(CLASS) </a:t>
            </a:r>
            <a:r>
              <a:rPr lang="ko-KR" altLang="en-US" sz="2000" dirty="0"/>
              <a:t>기능</a:t>
            </a:r>
            <a:endParaRPr lang="en-US" altLang="ko-KR" sz="2000" dirty="0"/>
          </a:p>
          <a:p>
            <a:pPr lvl="1"/>
            <a:r>
              <a:rPr lang="ko-KR" altLang="en-US" sz="2000" dirty="0"/>
              <a:t>정적 배열 </a:t>
            </a:r>
            <a:r>
              <a:rPr lang="en-US" altLang="ko-KR" sz="2000" dirty="0"/>
              <a:t>(ARRAY) </a:t>
            </a:r>
            <a:r>
              <a:rPr lang="ko-KR" altLang="en-US" sz="2000" dirty="0"/>
              <a:t>기능</a:t>
            </a:r>
            <a:endParaRPr lang="en-US" altLang="ko-KR" sz="2000" dirty="0"/>
          </a:p>
          <a:p>
            <a:pPr lvl="1"/>
            <a:r>
              <a:rPr lang="en-US" altLang="ko-KR" sz="2000" dirty="0"/>
              <a:t>CHECKER </a:t>
            </a:r>
            <a:r>
              <a:rPr lang="ko-KR" altLang="en-US" sz="2000" dirty="0"/>
              <a:t>오류 </a:t>
            </a:r>
            <a:r>
              <a:rPr lang="en-US" altLang="ko-KR" sz="2000" dirty="0"/>
              <a:t>(</a:t>
            </a:r>
            <a:r>
              <a:rPr lang="ko-KR" altLang="en-US" sz="2000" dirty="0"/>
              <a:t>실행 전 정적 검사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EXECUTOR </a:t>
            </a:r>
            <a:r>
              <a:rPr lang="ko-KR" altLang="en-US" sz="2000" dirty="0"/>
              <a:t>런타임 오류</a:t>
            </a:r>
            <a:r>
              <a:rPr lang="en-US" altLang="ko-KR" sz="2000" dirty="0"/>
              <a:t> (</a:t>
            </a:r>
            <a:r>
              <a:rPr lang="ko-KR" altLang="en-US" sz="2000" dirty="0"/>
              <a:t>실행 중 발생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디버그 모드</a:t>
            </a:r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1058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B14BB02-AE0C-4BB9-A25E-58FA5EF6E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Blameless </a:t>
            </a:r>
            <a:r>
              <a:rPr lang="ko-KR" altLang="en-US" dirty="0"/>
              <a:t>팀 발표를 </a:t>
            </a:r>
            <a:r>
              <a:rPr lang="ko-KR" altLang="en-US" dirty="0" err="1"/>
              <a:t>들어주셔서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307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1317062-3147-44C2-8F18-0B5B8F240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4500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FB970-F827-4401-BE43-A49169DB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Shell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C5A59-D5DD-40E5-A782-505E1E8A9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사용자가 무엇을</a:t>
            </a:r>
            <a:r>
              <a:rPr lang="en-US" altLang="ko-KR" sz="2000" dirty="0"/>
              <a:t>(REPL/</a:t>
            </a:r>
            <a:r>
              <a:rPr lang="ko-KR" altLang="en-US" sz="2000" dirty="0"/>
              <a:t>파일</a:t>
            </a:r>
            <a:r>
              <a:rPr lang="en-US" altLang="ko-KR" sz="2000" dirty="0"/>
              <a:t>) </a:t>
            </a:r>
            <a:r>
              <a:rPr lang="ko-KR" altLang="en-US" sz="2000" dirty="0"/>
              <a:t>어떻게 실행할지 결정하고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/>
              <a:t>입력을 한 줄</a:t>
            </a:r>
            <a:r>
              <a:rPr lang="en-US" altLang="ko-KR" sz="2000" dirty="0"/>
              <a:t>/</a:t>
            </a:r>
            <a:r>
              <a:rPr lang="ko-KR" altLang="en-US" sz="2000" dirty="0"/>
              <a:t>한 줄씩 읽어 파이프라인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CodeFabFacade</a:t>
            </a:r>
            <a:r>
              <a:rPr lang="en-US" altLang="ko-KR" sz="2000" dirty="0"/>
              <a:t>)</a:t>
            </a:r>
            <a:r>
              <a:rPr lang="ko-KR" altLang="en-US" sz="2000" dirty="0"/>
              <a:t>에 넘기는 역할</a:t>
            </a:r>
            <a:endParaRPr lang="en-US" altLang="ko-KR" sz="2000" dirty="0"/>
          </a:p>
          <a:p>
            <a:r>
              <a:rPr lang="ko-KR" altLang="en-US" sz="2000" dirty="0"/>
              <a:t>실제 해석</a:t>
            </a:r>
            <a:r>
              <a:rPr lang="en-US" altLang="ko-KR" sz="2000" dirty="0"/>
              <a:t>/</a:t>
            </a:r>
            <a:r>
              <a:rPr lang="ko-KR" altLang="en-US" sz="2000" dirty="0"/>
              <a:t>실행 로직은 전혀 모름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DE15FA-D526-4BDF-448F-B1B5FC06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42" y="2997200"/>
            <a:ext cx="4235038" cy="324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93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9A37D-67F0-4ED6-A13F-5CE5F19E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</a:t>
            </a:r>
            <a:r>
              <a:rPr lang="en-US" altLang="ko-KR" dirty="0" err="1"/>
              <a:t>CodeFabFacade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17744C-4359-4D52-B032-24045DBDA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"</a:t>
            </a:r>
            <a:r>
              <a:rPr lang="ko-KR" altLang="en-US" sz="2000" dirty="0" err="1"/>
              <a:t>토큰화→정적</a:t>
            </a:r>
            <a:r>
              <a:rPr lang="ko-KR" altLang="en-US" sz="2000" dirty="0"/>
              <a:t> </a:t>
            </a:r>
            <a:r>
              <a:rPr lang="ko-KR" altLang="en-US" sz="2000" dirty="0" err="1"/>
              <a:t>검사→실행</a:t>
            </a:r>
            <a:r>
              <a:rPr lang="en-US" altLang="ko-KR" sz="2000" dirty="0"/>
              <a:t>"</a:t>
            </a:r>
            <a:r>
              <a:rPr lang="ko-KR" altLang="en-US" sz="2000" dirty="0"/>
              <a:t>이라는 세 단계의 순서를 강제</a:t>
            </a:r>
            <a:br>
              <a:rPr lang="en-US" altLang="ko-KR" sz="2000" dirty="0"/>
            </a:br>
            <a:r>
              <a:rPr lang="ko-KR" altLang="en-US" sz="2000" b="1" dirty="0">
                <a:solidFill>
                  <a:srgbClr val="0070C0"/>
                </a:solidFill>
              </a:rPr>
              <a:t>→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rgbClr val="0070C0"/>
                </a:solidFill>
              </a:rPr>
              <a:t>호출자는 내부 단계 수</a:t>
            </a:r>
            <a:r>
              <a:rPr lang="en-US" altLang="ko-KR" sz="2000" dirty="0">
                <a:solidFill>
                  <a:srgbClr val="0070C0"/>
                </a:solidFill>
              </a:rPr>
              <a:t>/</a:t>
            </a:r>
            <a:r>
              <a:rPr lang="ko-KR" altLang="en-US" sz="2000" dirty="0">
                <a:solidFill>
                  <a:srgbClr val="0070C0"/>
                </a:solidFill>
              </a:rPr>
              <a:t>구현을 몰라도 됨</a:t>
            </a:r>
            <a:endParaRPr lang="ko-KR" alt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03750D9-37E4-596C-E3CA-638467A8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902" y="2185733"/>
            <a:ext cx="8709756" cy="436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16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36DBA-2377-4A2F-BAFA-DF5E6531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</a:t>
            </a:r>
            <a:r>
              <a:rPr lang="en-US" altLang="ko-KR" dirty="0" err="1"/>
              <a:t>AssemblerUnit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476791-EEFA-4814-9C31-4AC7C849C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303676"/>
            <a:ext cx="10515600" cy="492768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사람이 쓴 소스 문자열을 실행 가능한 구조</a:t>
            </a:r>
            <a:r>
              <a:rPr lang="en-US" altLang="ko-KR" sz="2000" dirty="0"/>
              <a:t>(AST)</a:t>
            </a:r>
            <a:r>
              <a:rPr lang="ko-KR" altLang="en-US" sz="2000" dirty="0"/>
              <a:t>로 변경</a:t>
            </a:r>
            <a:endParaRPr lang="en-US" altLang="ko-KR" sz="2000" dirty="0"/>
          </a:p>
          <a:p>
            <a:pPr lvl="1"/>
            <a:r>
              <a:rPr lang="en-US" altLang="ko-KR" sz="2000" dirty="0"/>
              <a:t>Abstract syntax tree</a:t>
            </a:r>
          </a:p>
          <a:p>
            <a:r>
              <a:rPr lang="en-US" altLang="ko-KR" sz="2000" dirty="0"/>
              <a:t>"</a:t>
            </a:r>
            <a:r>
              <a:rPr lang="ko-KR" altLang="en-US" sz="2000" dirty="0" err="1"/>
              <a:t>문자→토큰</a:t>
            </a:r>
            <a:r>
              <a:rPr lang="en-US" altLang="ko-KR" sz="2000" dirty="0"/>
              <a:t>"</a:t>
            </a:r>
            <a:r>
              <a:rPr lang="ko-KR" altLang="en-US" sz="2000" dirty="0"/>
              <a:t>과 </a:t>
            </a:r>
            <a:r>
              <a:rPr lang="en-US" altLang="ko-KR" sz="2000" dirty="0"/>
              <a:t>"</a:t>
            </a:r>
            <a:r>
              <a:rPr lang="ko-KR" altLang="en-US" sz="2000" dirty="0" err="1"/>
              <a:t>토큰→문법구조</a:t>
            </a:r>
            <a:r>
              <a:rPr lang="en-US" altLang="ko-KR" sz="2000" dirty="0"/>
              <a:t>"</a:t>
            </a:r>
            <a:r>
              <a:rPr lang="ko-KR" altLang="en-US" sz="2000" dirty="0"/>
              <a:t>라는 서로 다른 두 책임을 분리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6EA2D91-9988-7011-B103-99D15892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20" y="2575222"/>
            <a:ext cx="7610240" cy="413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94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62EAE-A22C-4A20-989E-33174B40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Lexer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7EF595-4AE9-4060-BFEB-6020A0530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토큰 분리 방법</a:t>
            </a:r>
            <a:endParaRPr lang="en-US" altLang="ko-KR" sz="2000" dirty="0"/>
          </a:p>
          <a:p>
            <a:pPr lvl="1"/>
            <a:r>
              <a:rPr lang="ko-KR" altLang="en-US" sz="2000" dirty="0"/>
              <a:t>문자열을 앞으로만 훑는 </a:t>
            </a:r>
            <a:r>
              <a:rPr lang="en-US" altLang="ko-KR" sz="2000" dirty="0"/>
              <a:t>Single-pass scanning </a:t>
            </a:r>
            <a:r>
              <a:rPr lang="ko-KR" altLang="en-US" sz="2000" dirty="0"/>
              <a:t>방식</a:t>
            </a:r>
            <a:endParaRPr lang="en-US" altLang="ko-KR" sz="2000" dirty="0"/>
          </a:p>
          <a:p>
            <a:pPr lvl="1"/>
            <a:r>
              <a:rPr lang="ko-KR" altLang="en-US" sz="2000" dirty="0"/>
              <a:t>문자를 하나씩 읽어 토큰 단위로 분리</a:t>
            </a:r>
            <a:endParaRPr lang="en-US" altLang="ko-KR" sz="2000" dirty="0"/>
          </a:p>
          <a:p>
            <a:pPr lvl="1"/>
            <a:r>
              <a:rPr lang="en-US" altLang="ko-KR" sz="2000" dirty="0"/>
              <a:t>Identifier</a:t>
            </a:r>
            <a:r>
              <a:rPr lang="ko-KR" altLang="en-US" sz="2000" dirty="0"/>
              <a:t>일 경우 키워드인지 확인 후 아니라면 </a:t>
            </a:r>
            <a:r>
              <a:rPr lang="en-US" altLang="ko-KR" sz="2000" dirty="0"/>
              <a:t>identifier </a:t>
            </a:r>
            <a:r>
              <a:rPr lang="ko-KR" altLang="en-US" sz="2000" dirty="0"/>
              <a:t>토큰으로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CC1085-9EAF-81E8-4044-F90453BA2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80" y="3512516"/>
            <a:ext cx="6716062" cy="2810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048D38-DE64-C416-80C1-FA76A803C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39761"/>
            <a:ext cx="4782217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39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214BA-6B01-4931-8B24-89DF46CE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Parser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78406D-D7E0-4E7B-9269-11E1D8975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전달 받은 토큰을 하나씩 소모하면서 트리의 구성요소인 </a:t>
            </a:r>
            <a:r>
              <a:rPr lang="en-US" altLang="ko-KR" sz="2000" dirty="0">
                <a:solidFill>
                  <a:schemeClr val="tx1"/>
                </a:solidFill>
              </a:rPr>
              <a:t>Statement </a:t>
            </a:r>
            <a:r>
              <a:rPr lang="ko-KR" altLang="en-US" sz="2000" dirty="0">
                <a:solidFill>
                  <a:schemeClr val="tx1"/>
                </a:solidFill>
              </a:rPr>
              <a:t>혹은 </a:t>
            </a:r>
            <a:r>
              <a:rPr lang="en-US" altLang="ko-KR" sz="2000" dirty="0">
                <a:solidFill>
                  <a:schemeClr val="tx1"/>
                </a:solidFill>
              </a:rPr>
              <a:t>Expression</a:t>
            </a:r>
            <a:r>
              <a:rPr lang="ko-KR" altLang="en-US" sz="2000" dirty="0">
                <a:solidFill>
                  <a:schemeClr val="tx1"/>
                </a:solidFill>
              </a:rPr>
              <a:t>을 만든다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2000" dirty="0">
                <a:solidFill>
                  <a:schemeClr val="tx1"/>
                </a:solidFill>
              </a:rPr>
              <a:t>재귀 하강 파싱</a:t>
            </a:r>
            <a:r>
              <a:rPr lang="en-US" altLang="ko-KR" sz="2000" dirty="0">
                <a:solidFill>
                  <a:schemeClr val="tx1"/>
                </a:solidFill>
              </a:rPr>
              <a:t>(Recursive descent parsing)</a:t>
            </a:r>
          </a:p>
          <a:p>
            <a:pPr lvl="1"/>
            <a:r>
              <a:rPr lang="ko-KR" altLang="en-US" sz="2000" dirty="0">
                <a:solidFill>
                  <a:schemeClr val="tx1"/>
                </a:solidFill>
              </a:rPr>
              <a:t>문법 규칙 하나당 함수 대응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함수가 서로 호출하며 내려가는 방식</a:t>
            </a:r>
            <a:endParaRPr lang="en-US" altLang="ko-KR" sz="2000" dirty="0">
              <a:solidFill>
                <a:schemeClr val="tx1"/>
              </a:solidFill>
            </a:endParaRPr>
          </a:p>
          <a:p>
            <a:r>
              <a:rPr lang="ko-KR" altLang="en-US" sz="2000" dirty="0">
                <a:solidFill>
                  <a:schemeClr val="tx1"/>
                </a:solidFill>
              </a:rPr>
              <a:t>연산자 우선순위 </a:t>
            </a:r>
            <a:r>
              <a:rPr lang="ko-KR" altLang="en-US" sz="2000" dirty="0" err="1">
                <a:solidFill>
                  <a:schemeClr val="tx1"/>
                </a:solidFill>
              </a:rPr>
              <a:t>클라이밍</a:t>
            </a:r>
            <a:r>
              <a:rPr lang="en-US" altLang="ko-KR" sz="2000" dirty="0">
                <a:solidFill>
                  <a:schemeClr val="tx1"/>
                </a:solidFill>
              </a:rPr>
              <a:t>(Precedence climbing)</a:t>
            </a:r>
          </a:p>
          <a:p>
            <a:pPr lvl="1"/>
            <a:r>
              <a:rPr lang="ko-KR" altLang="en-US" sz="2000" dirty="0">
                <a:solidFill>
                  <a:schemeClr val="tx1"/>
                </a:solidFill>
              </a:rPr>
              <a:t>낮은 우선순위 함수가 자신보다 한 단계 높은 우선순위 함수를 호출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770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E1666-306B-6A24-644B-7ACE7764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Parser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8D0930-2A0B-F640-B4D2-87D029854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가장 낮은 우선순위를 시작으로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각 단계마다 일단 다음 단계에 맡기고 본다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2000" dirty="0"/>
              <a:t>ex) a = -b + c * d</a:t>
            </a:r>
            <a:endParaRPr lang="ko-KR" altLang="en-US" sz="2000" dirty="0">
              <a:latin typeface="+mj-ea"/>
              <a:ea typeface="+mj-ea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78C90AF0-593F-9697-53F2-1D9CE7F00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48732"/>
              </p:ext>
            </p:extLst>
          </p:nvPr>
        </p:nvGraphicFramePr>
        <p:xfrm>
          <a:off x="1362520" y="2294306"/>
          <a:ext cx="9457880" cy="4253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088">
                  <a:extLst>
                    <a:ext uri="{9D8B030D-6E8A-4147-A177-3AD203B41FA5}">
                      <a16:colId xmlns:a16="http://schemas.microsoft.com/office/drawing/2014/main" val="3359124271"/>
                    </a:ext>
                  </a:extLst>
                </a:gridCol>
                <a:gridCol w="2256991">
                  <a:extLst>
                    <a:ext uri="{9D8B030D-6E8A-4147-A177-3AD203B41FA5}">
                      <a16:colId xmlns:a16="http://schemas.microsoft.com/office/drawing/2014/main" val="3024779912"/>
                    </a:ext>
                  </a:extLst>
                </a:gridCol>
                <a:gridCol w="5497801">
                  <a:extLst>
                    <a:ext uri="{9D8B030D-6E8A-4147-A177-3AD203B41FA5}">
                      <a16:colId xmlns:a16="http://schemas.microsoft.com/office/drawing/2014/main" val="371820595"/>
                    </a:ext>
                  </a:extLst>
                </a:gridCol>
              </a:tblGrid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우선순위</a:t>
                      </a:r>
                      <a:endParaRPr lang="en-US" altLang="ko-KR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낮을수록 높음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Expression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파싱 방법</a:t>
                      </a:r>
                      <a:endParaRPr lang="en-US" altLang="ko-KR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왼쪽 먼저 파싱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후 자신의 연산자 확인 후 오른쪽 파싱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45429"/>
                  </a:ext>
                </a:extLst>
              </a:tr>
              <a:tr h="5251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parseAssignExpr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parseLogicOr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‘=‘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parseAssignExpr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161174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parseLogicOr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parseLogicAnd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‘||’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parseLogicAnd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990736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parseLogicAnd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parseEquality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‘&amp;&amp;’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parseEquality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81814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parseEquality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parseComparison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“==/!=“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parseComparison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619619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parseComparison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parseTerm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“&gt; &lt; &gt;= &lt;=“ 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parseTerm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3653"/>
                  </a:ext>
                </a:extLst>
              </a:tr>
              <a:tr h="5251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parseTerm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parseFactor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“+ -”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parseFactor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35671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parseFactor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parseUnaryExpr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“* /” </a:t>
                      </a:r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parseUnaryExpr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331759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parseUnaryExpr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“- !” </a:t>
                      </a:r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parseUnaryExpr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232448"/>
                  </a:ext>
                </a:extLst>
              </a:tr>
              <a:tr h="375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cap="none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parsePrimaryExpr</a:t>
                      </a:r>
                      <a:r>
                        <a:rPr lang="en-US" altLang="ko-KR" sz="16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LiteralExpr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(), </a:t>
                      </a:r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VariableExpr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(), Expression() (if ‘(‘)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3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90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D370-427A-1617-4E49-502CC82B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Checker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46C25-2880-C2BD-55DD-EF004CFF1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실행하기 전에 </a:t>
            </a:r>
            <a:r>
              <a:rPr lang="en-US" altLang="ko-KR" sz="2000" dirty="0"/>
              <a:t>AST</a:t>
            </a:r>
            <a:r>
              <a:rPr lang="ko-KR" altLang="en-US" sz="2000" dirty="0"/>
              <a:t>가 실행 가능한 상태인지 미리 검증</a:t>
            </a:r>
            <a:endParaRPr lang="en-US" altLang="ko-KR" sz="2000" dirty="0"/>
          </a:p>
          <a:p>
            <a:pPr lvl="1"/>
            <a:r>
              <a:rPr lang="ko-KR" altLang="en-US" sz="2000" dirty="0"/>
              <a:t>변수 중복 선언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스코프</a:t>
            </a:r>
            <a:r>
              <a:rPr lang="ko-KR" altLang="en-US" sz="2000" dirty="0"/>
              <a:t> 규칙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자기참조</a:t>
            </a:r>
            <a:r>
              <a:rPr lang="ko-KR" altLang="en-US" sz="2000" dirty="0"/>
              <a:t> 초기화</a:t>
            </a:r>
            <a:endParaRPr lang="en-US" altLang="ko-KR" sz="2000" dirty="0"/>
          </a:p>
          <a:p>
            <a:r>
              <a:rPr lang="en-US" altLang="ko-KR" sz="2000" dirty="0"/>
              <a:t>Interpreter</a:t>
            </a:r>
            <a:r>
              <a:rPr lang="ko-KR" altLang="en-US" sz="2000" dirty="0"/>
              <a:t>가 </a:t>
            </a:r>
            <a:r>
              <a:rPr lang="en-US" altLang="ko-KR" sz="2000" dirty="0"/>
              <a:t>"</a:t>
            </a:r>
            <a:r>
              <a:rPr lang="ko-KR" altLang="en-US" sz="2000" dirty="0"/>
              <a:t>이미 검증된 </a:t>
            </a:r>
            <a:r>
              <a:rPr lang="en-US" altLang="ko-KR" sz="2000" dirty="0"/>
              <a:t>AST"</a:t>
            </a:r>
            <a:r>
              <a:rPr lang="ko-KR" altLang="en-US" sz="2000" dirty="0"/>
              <a:t>만 받는다고 가정할 수 있게 </a:t>
            </a:r>
            <a:r>
              <a:rPr lang="ko-KR" altLang="en-US" sz="2000" dirty="0" err="1"/>
              <a:t>해줌</a:t>
            </a:r>
            <a:endParaRPr lang="en-US" altLang="ko-KR" sz="2000" dirty="0"/>
          </a:p>
          <a:p>
            <a:r>
              <a:rPr lang="en-US" altLang="ko-KR" sz="2000" dirty="0"/>
              <a:t>AST </a:t>
            </a:r>
            <a:r>
              <a:rPr lang="ko-KR" altLang="en-US" sz="2000" dirty="0"/>
              <a:t>노드 타입은 고정</a:t>
            </a:r>
            <a:r>
              <a:rPr lang="en-US" altLang="ko-KR" sz="2000" dirty="0"/>
              <a:t>, </a:t>
            </a:r>
            <a:r>
              <a:rPr lang="ko-KR" altLang="en-US" sz="2000" dirty="0"/>
              <a:t>연산은 여러 개 </a:t>
            </a:r>
            <a:r>
              <a:rPr lang="en-US" altLang="ko-KR" sz="2000" dirty="0"/>
              <a:t>(Checker, Interpreter)</a:t>
            </a:r>
          </a:p>
          <a:p>
            <a:pPr lvl="1"/>
            <a:r>
              <a:rPr lang="ko-KR" altLang="en-US" sz="2000" dirty="0"/>
              <a:t>같은 </a:t>
            </a:r>
            <a:r>
              <a:rPr lang="en-US" altLang="ko-KR" sz="2000" dirty="0"/>
              <a:t>AST</a:t>
            </a:r>
            <a:r>
              <a:rPr lang="ko-KR" altLang="en-US" sz="2000" dirty="0"/>
              <a:t>를 </a:t>
            </a:r>
            <a:r>
              <a:rPr lang="en-US" altLang="ko-KR" sz="2000" dirty="0"/>
              <a:t>Checker</a:t>
            </a:r>
            <a:r>
              <a:rPr lang="ko-KR" altLang="en-US" sz="2000" dirty="0"/>
              <a:t>와 </a:t>
            </a:r>
            <a:r>
              <a:rPr lang="en-US" altLang="ko-KR" sz="2000" dirty="0"/>
              <a:t>Interpreter</a:t>
            </a:r>
            <a:r>
              <a:rPr lang="ko-KR" altLang="en-US" sz="2000" dirty="0"/>
              <a:t>가 다른 목적으로 순회</a:t>
            </a:r>
            <a:endParaRPr lang="en-US" altLang="ko-KR" sz="2000" dirty="0"/>
          </a:p>
          <a:p>
            <a:r>
              <a:rPr lang="ko-KR" altLang="en-US" sz="2000" dirty="0"/>
              <a:t>타입 집합은 안정적인데 그 위의 동작은 계속 늘어난다 </a:t>
            </a:r>
            <a:r>
              <a:rPr lang="ko-KR" altLang="en-US" sz="2000" dirty="0">
                <a:solidFill>
                  <a:srgbClr val="0070C0"/>
                </a:solidFill>
              </a:rPr>
              <a:t>⇛ </a:t>
            </a:r>
            <a:r>
              <a:rPr lang="en-US" altLang="ko-KR" sz="2000" dirty="0">
                <a:solidFill>
                  <a:srgbClr val="0070C0"/>
                </a:solidFill>
              </a:rPr>
              <a:t>Visitor pattern </a:t>
            </a:r>
            <a:r>
              <a:rPr lang="ko-KR" altLang="en-US" sz="2000" dirty="0">
                <a:solidFill>
                  <a:srgbClr val="0070C0"/>
                </a:solidFill>
              </a:rPr>
              <a:t>적용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64536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647E8A-2F21-9F0C-0CC8-C5498CD5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Interpreter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25E2F3-D805-8CBC-49DA-0CAD31865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검증이 끝난 </a:t>
            </a:r>
            <a:r>
              <a:rPr lang="en-US" altLang="ko-KR" sz="2000" dirty="0"/>
              <a:t>AST</a:t>
            </a:r>
            <a:r>
              <a:rPr lang="ko-KR" altLang="en-US" sz="2000" dirty="0"/>
              <a:t>를 실제로 실행</a:t>
            </a:r>
            <a:endParaRPr lang="en-US" altLang="ko-KR" sz="2000" dirty="0"/>
          </a:p>
          <a:p>
            <a:pPr lvl="1"/>
            <a:r>
              <a:rPr lang="ko-KR" altLang="en-US" sz="2000" dirty="0"/>
              <a:t>변수의 런타임 </a:t>
            </a:r>
            <a:r>
              <a:rPr lang="ko-KR" altLang="en-US" sz="2000" dirty="0" err="1"/>
              <a:t>스코프</a:t>
            </a:r>
            <a:r>
              <a:rPr lang="en-US" altLang="ko-KR" sz="2000" dirty="0"/>
              <a:t>(</a:t>
            </a:r>
            <a:r>
              <a:rPr lang="ko-KR" altLang="en-US" sz="2000" dirty="0"/>
              <a:t>값 저장</a:t>
            </a:r>
            <a:r>
              <a:rPr lang="en-US" altLang="ko-KR" sz="2000" dirty="0"/>
              <a:t>/</a:t>
            </a:r>
            <a:r>
              <a:rPr lang="ko-KR" altLang="en-US" sz="2000" dirty="0"/>
              <a:t>조회</a:t>
            </a:r>
            <a:r>
              <a:rPr lang="en-US" altLang="ko-KR" sz="2000" dirty="0"/>
              <a:t>) </a:t>
            </a:r>
            <a:r>
              <a:rPr lang="ko-KR" altLang="en-US" sz="2000" dirty="0"/>
              <a:t>담당</a:t>
            </a:r>
            <a:endParaRPr lang="en-US" altLang="ko-KR" sz="2000" dirty="0"/>
          </a:p>
          <a:p>
            <a:pPr lvl="1"/>
            <a:r>
              <a:rPr lang="en-US" altLang="ko-KR" sz="2000" dirty="0"/>
              <a:t>Environment </a:t>
            </a:r>
            <a:r>
              <a:rPr lang="ko-KR" altLang="en-US" sz="2000" dirty="0"/>
              <a:t>객체에 값들을 저장</a:t>
            </a:r>
            <a:endParaRPr lang="en-US" altLang="ko-KR" sz="2000" dirty="0"/>
          </a:p>
          <a:p>
            <a:r>
              <a:rPr lang="ko-KR" altLang="en-US" sz="2000" dirty="0"/>
              <a:t>환경 체인 </a:t>
            </a:r>
            <a:r>
              <a:rPr lang="en-US" altLang="ko-KR" sz="2000" dirty="0"/>
              <a:t>(Chain of Environments)</a:t>
            </a:r>
          </a:p>
          <a:p>
            <a:pPr lvl="1"/>
            <a:r>
              <a:rPr lang="ko-KR" altLang="en-US" sz="2000" dirty="0"/>
              <a:t>블록 중첩 시 지금 </a:t>
            </a:r>
            <a:r>
              <a:rPr lang="ko-KR" altLang="en-US" sz="2000" dirty="0" err="1"/>
              <a:t>스코프에</a:t>
            </a:r>
            <a:r>
              <a:rPr lang="ko-KR" altLang="en-US" sz="2000" dirty="0"/>
              <a:t> 없는 변수는</a:t>
            </a:r>
            <a:r>
              <a:rPr lang="en-US" altLang="ko-KR" sz="2000" dirty="0"/>
              <a:t> </a:t>
            </a:r>
            <a:r>
              <a:rPr lang="ko-KR" altLang="en-US" sz="2000" dirty="0"/>
              <a:t>바깥 </a:t>
            </a:r>
            <a:r>
              <a:rPr lang="ko-KR" altLang="en-US" sz="2000" dirty="0" err="1"/>
              <a:t>스코프에서</a:t>
            </a:r>
            <a:r>
              <a:rPr lang="ko-KR" altLang="en-US" sz="2000" dirty="0"/>
              <a:t> 찾을 수 있음</a:t>
            </a:r>
            <a:endParaRPr lang="en-US" altLang="ko-KR" sz="2000" dirty="0"/>
          </a:p>
          <a:p>
            <a:pPr lvl="1"/>
            <a:r>
              <a:rPr lang="en-US" altLang="ko-KR" sz="2000" dirty="0"/>
              <a:t>ex)</a:t>
            </a:r>
            <a:r>
              <a:rPr lang="ko-KR" altLang="en-US" sz="2000" dirty="0"/>
              <a:t> </a:t>
            </a:r>
            <a:r>
              <a:rPr lang="en-US" altLang="ko-KR" sz="2000" dirty="0" err="1"/>
              <a:t>BlockStmt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ForStmt</a:t>
            </a:r>
            <a:endParaRPr lang="en-US" altLang="ko-KR" sz="2000" dirty="0"/>
          </a:p>
          <a:p>
            <a:pPr lvl="1"/>
            <a:endParaRPr lang="ko-KR" altLang="en-US" sz="2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B92C8F3-D781-CEAF-2AF4-5A071FC5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54" y="3429001"/>
            <a:ext cx="8236146" cy="281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59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2937B-F08D-5377-4035-05C4F0E7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기능 구현 소개 </a:t>
            </a:r>
            <a:r>
              <a:rPr lang="en-US" altLang="ko-KR" dirty="0"/>
              <a:t>– Interpreter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DD5612-58FA-3ACE-86D0-66207F49A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globals</a:t>
            </a:r>
            <a:r>
              <a:rPr lang="en-US" altLang="ko-KR" sz="2000" dirty="0"/>
              <a:t> </a:t>
            </a:r>
            <a:r>
              <a:rPr lang="ko-KR" altLang="en-US" sz="2000" dirty="0"/>
              <a:t>초기화 및 새로운 </a:t>
            </a:r>
            <a:r>
              <a:rPr lang="ko-KR" altLang="en-US" sz="2000" dirty="0" err="1"/>
              <a:t>스코프</a:t>
            </a:r>
            <a:r>
              <a:rPr lang="ko-KR" altLang="en-US" sz="2000" dirty="0"/>
              <a:t> 진입 전 </a:t>
            </a:r>
            <a:r>
              <a:rPr lang="en-US" altLang="ko-KR" sz="2000" dirty="0"/>
              <a:t>environment </a:t>
            </a:r>
            <a:r>
              <a:rPr lang="ko-KR" altLang="en-US" sz="2000" dirty="0"/>
              <a:t>변경 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9ACEF5-8989-546E-A12A-73C01C83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83" y="3515260"/>
            <a:ext cx="5091833" cy="23144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7028925-ADCC-42A4-0245-37D25BAC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615"/>
          <a:stretch>
            <a:fillRect/>
          </a:stretch>
        </p:blipFill>
        <p:spPr>
          <a:xfrm>
            <a:off x="6178986" y="3550169"/>
            <a:ext cx="5257800" cy="22446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02AB87-C4CF-52A5-B8F2-8A833777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20" y="2206253"/>
            <a:ext cx="3048425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6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1429</Words>
  <Application>Microsoft Office PowerPoint</Application>
  <PresentationFormat>와이드스크린</PresentationFormat>
  <Paragraphs>268</Paragraphs>
  <Slides>37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조원 소개 및 역할</vt:lpstr>
      <vt:lpstr>지원 범위</vt:lpstr>
      <vt:lpstr>PowerPoint 프레젠테이션</vt:lpstr>
      <vt:lpstr>시스템 아키텍처</vt:lpstr>
      <vt:lpstr>디자인 패턴 – Façade/Orchestrator Pattern</vt:lpstr>
      <vt:lpstr>디자인 패턴 – Strategy Pattern</vt:lpstr>
      <vt:lpstr>디자인 패턴 – Visitor pattern</vt:lpstr>
      <vt:lpstr>SOLID 적용 사례</vt:lpstr>
      <vt:lpstr>PowerPoint 프레젠테이션</vt:lpstr>
      <vt:lpstr>BP 사례 ① TDD (Test-Driven Development)</vt:lpstr>
      <vt:lpstr>BP 사례 ① TDD (Test-Driven Development)</vt:lpstr>
      <vt:lpstr>BP 사례 ① TDD (Test-Driven Development)</vt:lpstr>
      <vt:lpstr>BP 사례 ② Refactoring</vt:lpstr>
      <vt:lpstr>BP 사례 ③ Code Review</vt:lpstr>
      <vt:lpstr>BP 사례 ④ AI 활용 (AI 코드리뷰 에이전트)</vt:lpstr>
      <vt:lpstr>BP 사례 ④ AI 활용 (AI 코드리뷰 에이전트)</vt:lpstr>
      <vt:lpstr>BP 사례 ④ AI 활용 (AI 코드리뷰 에이전트)</vt:lpstr>
      <vt:lpstr>BP 사례 ④ AI 활용 (AI 코드리뷰 에이전트)</vt:lpstr>
      <vt:lpstr>BP 사례 ④ AI 활용 (AI 코드리뷰 에이전트)</vt:lpstr>
      <vt:lpstr>BP 사례 ④ AI 활용 (AI 코드리뷰 에이전트)</vt:lpstr>
      <vt:lpstr>PowerPoint 프레젠테이션</vt:lpstr>
      <vt:lpstr>소감</vt:lpstr>
      <vt:lpstr>PowerPoint 프레젠테이션</vt:lpstr>
      <vt:lpstr>프로젝트 시연</vt:lpstr>
      <vt:lpstr>PowerPoint 프레젠테이션</vt:lpstr>
      <vt:lpstr>PowerPoint 프레젠테이션</vt:lpstr>
      <vt:lpstr>기능 구현 소개 – Shell</vt:lpstr>
      <vt:lpstr>기능 구현 소개 – CodeFabFacade </vt:lpstr>
      <vt:lpstr>기능 구현 소개 – AssemblerUnit</vt:lpstr>
      <vt:lpstr>기능 구현 소개 – Lexer</vt:lpstr>
      <vt:lpstr>기능 구현 소개 – Parser</vt:lpstr>
      <vt:lpstr>기능 구현 소개 – Parser</vt:lpstr>
      <vt:lpstr>기능 구현 소개 – Checker</vt:lpstr>
      <vt:lpstr>기능 구현 소개 – Interpreter</vt:lpstr>
      <vt:lpstr>기능 구현 소개 – Interpreter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linejin1313@gmail.com</dc:creator>
  <cp:lastModifiedBy>hyundon oh</cp:lastModifiedBy>
  <cp:revision>468</cp:revision>
  <dcterms:created xsi:type="dcterms:W3CDTF">2024-04-15T01:50:35Z</dcterms:created>
  <dcterms:modified xsi:type="dcterms:W3CDTF">2026-07-10T05:52:16Z</dcterms:modified>
</cp:coreProperties>
</file>